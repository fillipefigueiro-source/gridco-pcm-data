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A9DB21"/>
                </a:solidFill>
                <a:latin typeface="Calibri"/>
              </a:rPr>
              <a:t>PCM - REUNIAO DE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Semana 39 — nossos desafios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CBDA"/>
                </a:solidFill>
                <a:latin typeface="Calibri"/>
              </a:rPr>
              <a:t>21 a 25 de setembro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96AD"/>
                </a:solidFill>
                <a:latin typeface="Calibri"/>
              </a:rPr>
              <a:t>Equipe de PCM - Grid Co. - dados da API Fracttal em 21/09 (R00)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A semana em uma página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72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356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MPM de setembro — última semana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51% (670 de 1315 tarefas) — o mês fecha na quarta 30/09 (slide 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7568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MPA vencidas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subiram para 29 OS — Petrolina 2 (Axis) chegou a 104 dias (slide 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7919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426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MPS vencidas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6 OS, todas Thopen — a OS 6340 (118d) FECHOU; a mais antiga agora é Araçoiaba da Serra 1 (81d)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8269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461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Handover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16 OS abertas, todas Thopen — Inhapi 1 fechou; a mais antiga é Coração 1 e 2 (65d) (slide 9)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31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4962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Corretivas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caíram para 102 abertas (eram 126); 23 com +30 dias — backlog por supervisor (slide 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970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531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Pontos por cliente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Ultragaz zerou corretivas e fechou MPM — risco concentra em Thopen, Athon, Axis e RenoGrid (slides 4 a 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383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9320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5663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Análise de óleo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20 OS abertas — manter a logística enviar / rota / usina / laboratório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41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69671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91528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6013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03A"/>
                </a:solidFill>
                <a:latin typeface="Calibri"/>
              </a:rPr>
              <a:t>Ritmo da semana passada — </a:t>
            </a:r>
            <a:r>
              <a:rPr sz="1200" b="0">
                <a:solidFill>
                  <a:srgbClr val="504C63"/>
                </a:solidFill>
                <a:latin typeface="Calibri"/>
              </a:rPr>
              <a:t>S38 fechou 457 OS; entraram 104 corretivas novas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PORTFÓLIO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Panorama por cliente — onde está o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MPA/MPS vencidas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MPM de setembro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paradas há +30 dias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80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783080"/>
                <a:gridCol w="640080"/>
                <a:gridCol w="1234440"/>
                <a:gridCol w="1234440"/>
                <a:gridCol w="914400"/>
                <a:gridCol w="3931920"/>
              </a:tblGrid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Corretivas abertas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+30d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MPA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MPS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MPM set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OS aberta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58 em 22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14 / 12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OS 8466 · Mandaguaçu 1 · 81d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22 em 8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OS 8338 · Timon 1 · 88d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 em 4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OS 7103 · Petrolina 2 · 104d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1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OS 8796 · Cedro 1 · 79d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10245 · Colíder 2 · 37d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 em 3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10149 · Sete Lagoas 2 · 55d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Sal Energia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 em 3 usinas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11483 · Aquiraz 2 (Carosa) · 32d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GD Energy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 em 2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3261E"/>
                          </a:solidFill>
                          <a:latin typeface="Calibri"/>
                        </a:rPr>
                        <a:t>OS 9718 · Guajirú 1 · 62d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 /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10319 · Ibirapuã 1 · 41d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Semp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 em 1 usinas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11454 · Tucano 1 · 30d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Alves Lima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OS 12653 · Morada Nova 1 · 10d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Thopen — maior volume do portfólio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corretivas abertas em 22 usinas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 vencidas (14 abertas)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MPS vencidas (6 abertas)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MPM set (448/822 tarefas)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03A"/>
                </a:solidFill>
                <a:latin typeface="Calibri"/>
              </a:rPr>
              <a:t>Usinas com mais corretivas abertas: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971800"/>
          <a:ext cx="512064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146304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Usina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Corretivas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Altair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10 OS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Céu Azul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8 OS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Coração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 OS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989320" y="2971800"/>
            <a:ext cx="5669280" cy="169164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5468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Vitória da semana: </a:t>
            </a:r>
            <a:r>
              <a:rPr sz="1200" b="1">
                <a:solidFill>
                  <a:srgbClr val="2E7D32"/>
                </a:solidFill>
                <a:latin typeface="Calibri"/>
              </a:rPr>
              <a:t>a OS 6340 (MPS de Aparecida do Taboado, 118 dias — a mais antiga do portfólio) foi FECHADA.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191528"/>
                </a:solidFill>
                <a:latin typeface="Calibri"/>
              </a:rPr>
              <a:t>Mais antiga agora: </a:t>
            </a:r>
            <a:r>
              <a:rPr sz="1100" b="0">
                <a:solidFill>
                  <a:srgbClr val="504C63"/>
                </a:solidFill>
                <a:latin typeface="Calibri"/>
              </a:rPr>
              <a:t>OS 8466 — Mandaguaçu 1 ([Grid Co.] - MPA - Caixa d'águ), programada em 01/07 — </a:t>
            </a:r>
            <a:r>
              <a:rPr sz="1100" b="1">
                <a:solidFill>
                  <a:srgbClr val="B3261E"/>
                </a:solidFill>
                <a:latin typeface="Calibri"/>
              </a:rPr>
              <a:t>81 dias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2064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Desafio da semana: </a:t>
            </a:r>
            <a:r>
              <a:rPr sz="1200" b="0">
                <a:solidFill>
                  <a:srgbClr val="23203A"/>
                </a:solidFill>
                <a:latin typeface="Calibri"/>
              </a:rPr>
              <a:t>fechar o mês — MPM em 55% com 30 usinas pendentes; </a:t>
            </a:r>
            <a:r>
              <a:rPr sz="1200" b="0">
                <a:solidFill>
                  <a:srgbClr val="23203A"/>
                </a:solidFill>
                <a:latin typeface="Calibri"/>
              </a:rPr>
              <a:t>12 MPA e 6 MPS vencidas (Araçoiaba SPDA e Mandaguaçu caixa d'água com 81d) e 16 handovers abertos (slide 9).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Altair 1 e Céu Azul 1 seguem liderando em corretivas — revisar na programação de hoje.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Athon e Axis — atenção concentrada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528"/>
                </a:solidFill>
                <a:latin typeface="Calibri"/>
              </a:rPr>
              <a:t>Athon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com +30 dias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3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MPM setembro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OS 8338 — Timon 1: trackers parados, aberta há 88 dias (desde 24/06).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9 das 22 corretivas com +30 dias — Marabá 2 e Santa Maria do Pará (5 OS cada) lideram agora.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MPM de setembro em 38% — 7 usinas pendentes para fechar até 30/09.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MPA de Mãe do Rio 1 venceu dia 17/09 — está em execução (plano de ação com a Athon).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5440680" cy="48463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528"/>
                </a:solidFill>
                <a:latin typeface="Calibri"/>
              </a:rPr>
              <a:t>Axis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corretivas abertas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5592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3261E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com +30 dias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84663" y="21488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1" y="223113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9770E"/>
                </a:solidFill>
                <a:latin typeface="Calibri"/>
              </a:rPr>
              <a:t>48%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1" y="26974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MPM setembro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4612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As 5 MPA abertas estão TODAS vencidas — e agora inclui Marialva 1 (crítica, pendente de envio de relatório).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Petrolina 2 chegou a 104 dias (desde 08/06) — cobrar a execução do desligamento combinado com o Caio.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MPM de setembro em 48% — 3 usinas pendentes.</a:t>
            </a:r>
          </a:p>
          <a:p>
            <a:pPr algn="l">
              <a:spcBef>
                <a:spcPts val="400"/>
              </a:spcBef>
            </a:pPr>
            <a:r>
              <a:rPr sz="1150" b="1">
                <a:solidFill>
                  <a:srgbClr val="191528"/>
                </a:solidFill>
                <a:latin typeface="Calibri"/>
              </a:rPr>
              <a:t>•  </a:t>
            </a:r>
            <a:r>
              <a:rPr sz="1150" b="0">
                <a:solidFill>
                  <a:srgbClr val="23203A"/>
                </a:solidFill>
                <a:latin typeface="Calibri"/>
              </a:rPr>
              <a:t>6 corretivas abertas em 4 usinas — Marialva 1 concentra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PONTOS POR CLIENTE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Demais clientes — um ponto por linha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82296" cy="4754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RenoGrid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184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5 MPA abertas, TODAS vencidas e Muito Crítico na Gerencial (cluster com 1 técnico só); MPM em 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75688"/>
            <a:ext cx="82296" cy="4754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7627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GD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8541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20%; exaustores do trafo de Guajirú seguem abertos há 62 dias (2 corretivas +30d).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42616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42616"/>
            <a:ext cx="82296" cy="47548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Alves Lima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523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de setembro em 0% (12 tarefas em Morada Nova 1) — corretivas zeradas.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9544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09544"/>
            <a:ext cx="82296" cy="47548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101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Sal Energia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31927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subiu de 8% para 44% — bom avanço; reparo de estruturas de Aquiraz 2 chegou a 32d.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47548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770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Greenyellow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88620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94%; seguem as 3 MPA vencidas — Cedro 1 (79d) com falta de ferramentas relatada.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82296" cy="47548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4398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2C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4531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em 68% (entraram usinas novas no plano); chamado STI de Sete Lagoas 2 há 55d; MPA de Tupi Paulista vencida.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10328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910328"/>
            <a:ext cx="82296" cy="4754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109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Ultragaz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02005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ZEROU as corretivas e fechou a MPM em 100% — restam só as 2 MPA vencidas de Ibirapuã (41d).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77256"/>
            <a:ext cx="11155680" cy="475488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477256"/>
            <a:ext cx="82296" cy="4754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91528"/>
                </a:solidFill>
                <a:latin typeface="Calibri"/>
              </a:rPr>
              <a:t>Semp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58698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203A"/>
                </a:solidFill>
                <a:latin typeface="Calibri"/>
              </a:rPr>
              <a:t>MPM 100%; análise do descasamento de geração de Tucano 1 completou 30 dias.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PREVENTIVA MENSAL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MPM de setembro — última semana, 51% feito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670 de 1315 tarefas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Ultragaz · Semp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já fecharam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3261E"/>
                </a:solidFill>
                <a:latin typeface="Calibri"/>
              </a:rPr>
              <a:t>Reno · GD · Alves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em 0–20% — foco da semana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91528"/>
                </a:solidFill>
                <a:latin typeface="Calibri"/>
              </a:rPr>
              <a:t>30/09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 mês fecha quarta — meta 100%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05840"/>
                <a:gridCol w="731520"/>
                <a:gridCol w="1097280"/>
                <a:gridCol w="6766560"/>
              </a:tblGrid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Feitas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Usinas pend.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Onde falta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0/34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Colíder 2, Elias Fausto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Alves Lima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0/12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Morada Nova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GD Energy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8/41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Guajirú 1, Sol do Norte 1, Sol do Norte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67/178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Timon 1, Timon 2, Jacundá 1, Marabá 1 …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Sal Energia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27/62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3261E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Aquiraz 1 (Salvales), Cascavel 1 (Sunpower), Quixadá 1 (Hortin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29/60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Linhares 1, Marialva 1, Petrolina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448/822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Altair 1, Aparecida do Taboado 1 e 2, Araçoiaba da Serra 1, Ar …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30/44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União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17/18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Castelo do Piauí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29/29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91528"/>
                          </a:solidFill>
                          <a:latin typeface="Calibri"/>
                        </a:rPr>
                        <a:t>Semp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15/15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04C6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ANUAIS E SEMESTRAIS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MPA e MPS — abertas e vencidas por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MPA abertas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MPA já vencidas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MPS abertas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MPS vencidas (todas Thopen)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468880"/>
          <a:ext cx="1115568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822960"/>
                <a:gridCol w="1783080"/>
                <a:gridCol w="822960"/>
                <a:gridCol w="1737360"/>
                <a:gridCol w="1463040"/>
                <a:gridCol w="868680"/>
                <a:gridCol w="2606040"/>
              </a:tblGrid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MPA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MPA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MPS ab/venc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MPS mais antiga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Onde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Criticidade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Observações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Thopen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14 / 12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OS 8466 · Mandaguaçu 1 · 81d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OS 8401 · Araçoiaba da Ser · 81d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Araçoiaba da Serra 1, Araçoi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Mandaguaçu 1: 25/08/2026: Auxílio na semana do dia 24/08 foi inviabilizado p…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OS 7103 · Petrolina 2 · 104d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Marialva 1, Petrolina 2 +1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Marialva 1: 03/07/2026: Adição na equipe - Bruno Pupo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RenoGrid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5 / 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B9770E"/>
                          </a:solidFill>
                          <a:latin typeface="Calibri"/>
                        </a:rPr>
                        <a:t>OS 10245 · Colíder 2 · 37d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Colíder 2, Crateús 1 +3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Muito Crítico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Colíder 2: 01/09/2026: Adriano apresentou problemas relacionados à mobilizaç…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Greenyellow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OS 8796 · Cedro 1 · 79d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Cedro 1, Cedro 2 +1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B3261E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Cedro 1: 25/08/2026: Foi feita eunião de alinhamento com o técnico Leonardo …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Ultragaz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2 /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B9770E"/>
                          </a:solidFill>
                          <a:latin typeface="Calibri"/>
                        </a:rPr>
                        <a:t>OS 10319 · Ibirapuã 1 · 41d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Ibirapuã 1, Ibirapuã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B9770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Ibirapuã 1: 25/08/2026: MPA em execução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Athon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B9770E"/>
                          </a:solidFill>
                          <a:latin typeface="Calibri"/>
                        </a:rPr>
                        <a:t>OS 13306 · Mãe do Rio 1 · 3d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Mãe do Rio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2E7D32"/>
                          </a:solidFill>
                          <a:latin typeface="Calibri"/>
                        </a:rPr>
                        <a:t>Baixo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Mãe do Rio 1: 06/07/2026: MPS prevista para o dia 01/07/2026 pela Athon está…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91528"/>
                          </a:solidFill>
                          <a:latin typeface="Calibri"/>
                        </a:rPr>
                        <a:t>2C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1 /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B9770E"/>
                          </a:solidFill>
                          <a:latin typeface="Calibri"/>
                        </a:rPr>
                        <a:t>OS 13184 · Tupi Paulista 1  · 12d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Tupi Paulista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B9770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04C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297680" y="6473952"/>
            <a:ext cx="7360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504C63"/>
                </a:solidFill>
                <a:latin typeface="Calibri"/>
              </a:rPr>
              <a:t>Criticidade e observações: Gerencial - PCM_2026_R00, aba MPAS (usina mais crítica de cada cliente) · 21/09.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Handover — pendências de entrada de usina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9770E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OS de handover abertas (todas Thopen)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91528"/>
                </a:solidFill>
                <a:latin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usinas com handover aberto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7160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7510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já passaram da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371600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6304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B3261E"/>
                </a:solidFill>
                <a:latin typeface="Calibri"/>
              </a:rPr>
              <a:t>65d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7510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04C63"/>
                </a:solidFill>
                <a:latin typeface="Calibri"/>
              </a:rPr>
              <a:t>a mais antiga (Coração 1 e 2)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606040"/>
          <a:ext cx="11155679" cy="3653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234440"/>
                <a:gridCol w="777240"/>
                <a:gridCol w="3749039"/>
                <a:gridCol w="1097280"/>
                <a:gridCol w="1645920"/>
              </a:tblGrid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Usina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Tarefas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Escopo mais antigo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Programada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marL="50000" marR="50000" marT="12000" marB="12000" anchor="ctr">
                    <a:solidFill>
                      <a:srgbClr val="191528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Coração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9534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PPCI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3261E"/>
                          </a:solidFill>
                          <a:latin typeface="Calibri"/>
                        </a:rPr>
                        <a:t>65d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Colorado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10607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06/08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45d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Diamantino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10971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10/08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41d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Guatambú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10829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12/08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39d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Caicó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11557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INFRAESTRUTURA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25/08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26d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Rodrigues 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12996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Inversores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Santo Antônio da Platina 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12876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Ar Condicionado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Santo Antônio da Platina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12876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Sistema de Supervisório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08/09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12d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14/09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6d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Canarana 1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13623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Trackers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15/09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5d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15/09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5d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Cipó Guaçu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13633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FOSSA SEPTICA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16/09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4d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Itajá 1 e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13730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Pharmas 4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12902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17/09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B9770E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Canarana 2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13624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21/09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7D32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Alvares Machado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13758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Transformador de Potência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22/09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7D32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 marL="50000" marR="50000" marT="12000" marB="12000" anchor="ctr">
                    <a:solidFill>
                      <a:srgbClr val="F0F1F4"/>
                    </a:solidFill>
                  </a:tcPr>
                </a:tc>
              </a:tr>
              <a:tr h="2029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91528"/>
                          </a:solidFill>
                          <a:latin typeface="Calibri"/>
                        </a:rPr>
                        <a:t>Assis Chateaubriand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91528"/>
                          </a:solidFill>
                          <a:latin typeface="Calibri"/>
                        </a:rPr>
                        <a:t>OS 13835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Nobreak e Banco de Baterias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04C63"/>
                          </a:solidFill>
                          <a:latin typeface="Calibri"/>
                        </a:rPr>
                        <a:t>24/09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7D32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 marL="50000" marR="50000" marT="12000" marB="1200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O estoque antigo por supervisor — 69 OS há +30 dias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51483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Pedro Candido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35148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18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166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8338 </a:t>
            </a:r>
            <a:r>
              <a:rPr sz="850" b="1">
                <a:solidFill>
                  <a:srgbClr val="B3261E"/>
                </a:solidFill>
                <a:latin typeface="Calibri"/>
              </a:rPr>
              <a:t>88d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Timon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166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8466 </a:t>
            </a:r>
            <a:r>
              <a:rPr sz="850" b="1">
                <a:solidFill>
                  <a:srgbClr val="B3261E"/>
                </a:solidFill>
                <a:latin typeface="Calibri"/>
              </a:rPr>
              <a:t>81d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Mandaguaçu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18086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8830 </a:t>
            </a:r>
            <a:r>
              <a:rPr sz="850" b="1">
                <a:solidFill>
                  <a:srgbClr val="B3261E"/>
                </a:solidFill>
                <a:latin typeface="Calibri"/>
              </a:rPr>
              <a:t>80d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Timon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8086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9442 </a:t>
            </a:r>
            <a:r>
              <a:rPr sz="850" b="1">
                <a:solidFill>
                  <a:srgbClr val="B3261E"/>
                </a:solidFill>
                <a:latin typeface="Calibri"/>
              </a:rPr>
              <a:t>68d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Marialva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0007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9489 </a:t>
            </a:r>
            <a:r>
              <a:rPr sz="850" b="1">
                <a:solidFill>
                  <a:srgbClr val="B3261E"/>
                </a:solidFill>
                <a:latin typeface="Calibri"/>
              </a:rPr>
              <a:t>67d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Céu Azul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4408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0007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9602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Mandaguaçu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19273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9915 </a:t>
            </a:r>
            <a:r>
              <a:rPr sz="850" b="1">
                <a:solidFill>
                  <a:srgbClr val="B9770E"/>
                </a:solidFill>
                <a:latin typeface="Calibri"/>
              </a:rPr>
              <a:t>59d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Mandaguaçu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4408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19273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10215 </a:t>
            </a:r>
            <a:r>
              <a:rPr sz="850" b="1">
                <a:solidFill>
                  <a:srgbClr val="B9770E"/>
                </a:solidFill>
                <a:latin typeface="Calibri"/>
              </a:rPr>
              <a:t>54d </a:t>
            </a:r>
            <a:r>
              <a:rPr sz="800" b="0">
                <a:solidFill>
                  <a:srgbClr val="504C63"/>
                </a:solidFill>
                <a:latin typeface="Calibri"/>
              </a:rPr>
              <a:t>· Guatambú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38475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10501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Colorado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4408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38475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10185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Cidade Gaúcha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57677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10815 </a:t>
            </a:r>
            <a:r>
              <a:rPr sz="850" b="1">
                <a:solidFill>
                  <a:srgbClr val="B9770E"/>
                </a:solidFill>
                <a:latin typeface="Calibri"/>
              </a:rPr>
              <a:t>43d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Guatambú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4408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257677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10967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Timon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75234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276880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10790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Mandaguaçu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64408" y="275234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276880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11134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Mandaguaçu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94436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296082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11016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Guatambú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64408" y="294436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296082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11239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Timon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3136391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315285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10169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00" b="0">
                <a:solidFill>
                  <a:srgbClr val="504C63"/>
                </a:solidFill>
                <a:latin typeface="Calibri"/>
              </a:rPr>
              <a:t>· Santarém 1 e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4408" y="3136391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315285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11524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Matões 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9632" y="1325880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1351483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Fred Alexandrino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31552" y="135148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12 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2784" y="16166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8626 </a:t>
            </a:r>
            <a:r>
              <a:rPr sz="850" b="1">
                <a:solidFill>
                  <a:srgbClr val="B3261E"/>
                </a:solidFill>
                <a:latin typeface="Calibri"/>
              </a:rPr>
              <a:t>73d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Topázio (Matão 2)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16002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34272" y="16166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9723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Topázio (Matão 2)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9632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18086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9722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Matão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17922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34272" y="18086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10016 </a:t>
            </a:r>
            <a:r>
              <a:rPr sz="850" b="1">
                <a:solidFill>
                  <a:srgbClr val="B9770E"/>
                </a:solidFill>
                <a:latin typeface="Calibri"/>
              </a:rPr>
              <a:t>58d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Boa Esperança do Su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99632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20007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10149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00" b="0">
                <a:solidFill>
                  <a:srgbClr val="504C63"/>
                </a:solidFill>
                <a:latin typeface="Calibri"/>
              </a:rPr>
              <a:t>· Sete Lagoas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19842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34272" y="20007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10297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Araputanga 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9632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72784" y="219273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10030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Matão 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61120" y="21762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34272" y="219273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10744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00" b="0">
                <a:solidFill>
                  <a:srgbClr val="504C63"/>
                </a:solidFill>
                <a:latin typeface="Calibri"/>
              </a:rPr>
              <a:t>· Ibaté 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99632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2784" y="238475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10743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00" b="0">
                <a:solidFill>
                  <a:srgbClr val="504C63"/>
                </a:solidFill>
                <a:latin typeface="Calibri"/>
              </a:rPr>
              <a:t>· Ibaté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20" y="23682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34272" y="238475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10245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Colíder 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99632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72784" y="257677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11483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Aquiraz 2 (Carosa)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20" y="256032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34272" y="257677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11482 </a:t>
            </a:r>
            <a:r>
              <a:rPr sz="850" b="1">
                <a:solidFill>
                  <a:srgbClr val="B9770E"/>
                </a:solidFill>
                <a:latin typeface="Calibri"/>
              </a:rPr>
              <a:t>32d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Aquiraz 1 (Salvales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2807208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2832811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Camila Viana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31552" y="2832811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11 OS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99632" y="30815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72784" y="309798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8282 </a:t>
            </a:r>
            <a:r>
              <a:rPr sz="850" b="1">
                <a:solidFill>
                  <a:srgbClr val="B3261E"/>
                </a:solidFill>
                <a:latin typeface="Calibri"/>
              </a:rPr>
              <a:t>87d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Capitão Poço 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61120" y="30815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34272" y="309798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9058 </a:t>
            </a:r>
            <a:r>
              <a:rPr sz="850" b="1">
                <a:solidFill>
                  <a:srgbClr val="B3261E"/>
                </a:solidFill>
                <a:latin typeface="Calibri"/>
              </a:rPr>
              <a:t>67d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99632" y="32735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72784" y="329001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10195 </a:t>
            </a:r>
            <a:r>
              <a:rPr sz="850" b="1">
                <a:solidFill>
                  <a:srgbClr val="B9770E"/>
                </a:solidFill>
                <a:latin typeface="Calibri"/>
              </a:rPr>
              <a:t>53d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20" y="32735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34272" y="329001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11503 </a:t>
            </a:r>
            <a:r>
              <a:rPr sz="850" b="1">
                <a:solidFill>
                  <a:srgbClr val="B9770E"/>
                </a:solidFill>
                <a:latin typeface="Calibri"/>
              </a:rPr>
              <a:t>45d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Aparecida do Taboad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99632" y="346557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72784" y="348203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10861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Aparecida do Taboad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61120" y="346557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34272" y="348203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10885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Brodowski 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99632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72784" y="36740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10810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Tanabi 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61120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34272" y="36740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10809 </a:t>
            </a:r>
            <a:r>
              <a:rPr sz="850" b="1">
                <a:solidFill>
                  <a:srgbClr val="B9770E"/>
                </a:solidFill>
                <a:latin typeface="Calibri"/>
              </a:rPr>
              <a:t>38d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Fernandópolis 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99632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72784" y="38660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11119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961120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34272" y="38660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11118 </a:t>
            </a:r>
            <a:r>
              <a:rPr sz="850" b="1">
                <a:solidFill>
                  <a:srgbClr val="B9770E"/>
                </a:solidFill>
                <a:latin typeface="Calibri"/>
              </a:rPr>
              <a:t>37d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99632" y="40416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72784" y="40581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11444 </a:t>
            </a:r>
            <a:r>
              <a:rPr sz="850" b="1">
                <a:solidFill>
                  <a:srgbClr val="B9770E"/>
                </a:solidFill>
                <a:latin typeface="Calibri"/>
              </a:rPr>
              <a:t>33d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Santa Maria do Pará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3383280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" y="3408883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Vitor Valadares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34840" y="3408883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10 OS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6072" y="36740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7103 </a:t>
            </a:r>
            <a:r>
              <a:rPr sz="850" b="1">
                <a:solidFill>
                  <a:srgbClr val="B3261E"/>
                </a:solidFill>
                <a:latin typeface="Calibri"/>
              </a:rPr>
              <a:t>104d </a:t>
            </a:r>
            <a:r>
              <a:rPr sz="800" b="0">
                <a:solidFill>
                  <a:srgbClr val="504C63"/>
                </a:solidFill>
                <a:latin typeface="Calibri"/>
              </a:rPr>
              <a:t>· Petrolina 2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264408" y="365760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37560" y="367405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7104 </a:t>
            </a:r>
            <a:r>
              <a:rPr sz="850" b="1">
                <a:solidFill>
                  <a:srgbClr val="B3261E"/>
                </a:solidFill>
                <a:latin typeface="Calibri"/>
              </a:rPr>
              <a:t>96d </a:t>
            </a:r>
            <a:r>
              <a:rPr sz="800" b="0">
                <a:solidFill>
                  <a:srgbClr val="504C63"/>
                </a:solidFill>
                <a:latin typeface="Calibri"/>
              </a:rPr>
              <a:t>· Petrolina 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02920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6072" y="38660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9456 </a:t>
            </a:r>
            <a:r>
              <a:rPr sz="850" b="1">
                <a:solidFill>
                  <a:srgbClr val="B3261E"/>
                </a:solidFill>
                <a:latin typeface="Calibri"/>
              </a:rPr>
              <a:t>67d </a:t>
            </a:r>
            <a:r>
              <a:rPr sz="800" b="0">
                <a:solidFill>
                  <a:srgbClr val="504C63"/>
                </a:solidFill>
                <a:latin typeface="Calibri"/>
              </a:rPr>
              <a:t>· Petrolina 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264408" y="384962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37560" y="386608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9865 </a:t>
            </a:r>
            <a:r>
              <a:rPr sz="850" b="1">
                <a:solidFill>
                  <a:srgbClr val="B3261E"/>
                </a:solidFill>
                <a:latin typeface="Calibri"/>
              </a:rPr>
              <a:t>63d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Vertentes 2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02920" y="40416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6072" y="40581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9864 </a:t>
            </a:r>
            <a:r>
              <a:rPr sz="850" b="1">
                <a:solidFill>
                  <a:srgbClr val="B3261E"/>
                </a:solidFill>
                <a:latin typeface="Calibri"/>
              </a:rPr>
              <a:t>63d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Vertentes 2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264408" y="404164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337560" y="405810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9863 </a:t>
            </a:r>
            <a:r>
              <a:rPr sz="850" b="1">
                <a:solidFill>
                  <a:srgbClr val="B3261E"/>
                </a:solidFill>
                <a:latin typeface="Calibri"/>
              </a:rPr>
              <a:t>63d </a:t>
            </a:r>
            <a:r>
              <a:rPr sz="800" b="0">
                <a:solidFill>
                  <a:srgbClr val="504C63"/>
                </a:solidFill>
                <a:latin typeface="Calibri"/>
              </a:rPr>
              <a:t>· Vertentes 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2920" y="42336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6072" y="425013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10319 </a:t>
            </a:r>
            <a:r>
              <a:rPr sz="850" b="1">
                <a:solidFill>
                  <a:srgbClr val="B9770E"/>
                </a:solidFill>
                <a:latin typeface="Calibri"/>
              </a:rPr>
              <a:t>41d </a:t>
            </a:r>
            <a:r>
              <a:rPr sz="800" b="0">
                <a:solidFill>
                  <a:srgbClr val="504C63"/>
                </a:solidFill>
                <a:latin typeface="Calibri"/>
              </a:rPr>
              <a:t>· Ibirapuã 1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64408" y="423367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37560" y="425013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11120 </a:t>
            </a:r>
            <a:r>
              <a:rPr sz="850" b="1">
                <a:solidFill>
                  <a:srgbClr val="B9770E"/>
                </a:solidFill>
                <a:latin typeface="Calibri"/>
              </a:rPr>
              <a:t>39d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Petrolina 2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920" y="44256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76072" y="444215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10889 </a:t>
            </a:r>
            <a:r>
              <a:rPr sz="850" b="1">
                <a:solidFill>
                  <a:srgbClr val="B9770E"/>
                </a:solidFill>
                <a:latin typeface="Calibri"/>
              </a:rPr>
              <a:t>36d </a:t>
            </a:r>
            <a:r>
              <a:rPr sz="800" b="0">
                <a:solidFill>
                  <a:srgbClr val="504C63"/>
                </a:solidFill>
                <a:latin typeface="Calibri"/>
              </a:rPr>
              <a:t>· Vertentes 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64408" y="442569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37560" y="444215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10322 </a:t>
            </a:r>
            <a:r>
              <a:rPr sz="850" b="1">
                <a:solidFill>
                  <a:srgbClr val="B9770E"/>
                </a:solidFill>
                <a:latin typeface="Calibri"/>
              </a:rPr>
              <a:t>31d </a:t>
            </a:r>
            <a:r>
              <a:rPr sz="800" b="0">
                <a:solidFill>
                  <a:srgbClr val="504C63"/>
                </a:solidFill>
                <a:latin typeface="Calibri"/>
              </a:rPr>
              <a:t>· Ibirapuã 2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199632" y="4288536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27648" y="4314139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Danuth Fernandes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31552" y="431413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8 OS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199632" y="456285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72784" y="457931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8401 </a:t>
            </a:r>
            <a:r>
              <a:rPr sz="850" b="1">
                <a:solidFill>
                  <a:srgbClr val="B3261E"/>
                </a:solidFill>
                <a:latin typeface="Calibri"/>
              </a:rPr>
              <a:t>81d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Araçoiaba da Serra 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961120" y="456285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034272" y="457931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10157 </a:t>
            </a:r>
            <a:r>
              <a:rPr sz="850" b="1">
                <a:solidFill>
                  <a:srgbClr val="B9770E"/>
                </a:solidFill>
                <a:latin typeface="Calibri"/>
              </a:rPr>
              <a:t>55d </a:t>
            </a:r>
            <a:r>
              <a:rPr sz="800" b="0">
                <a:solidFill>
                  <a:srgbClr val="504C63"/>
                </a:solidFill>
                <a:latin typeface="Calibri"/>
              </a:rPr>
              <a:t>· Piracicaba 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199632" y="475488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272784" y="477133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10460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Embu Guaçu 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961120" y="475488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34272" y="477133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10189 </a:t>
            </a:r>
            <a:r>
              <a:rPr sz="850" b="1">
                <a:solidFill>
                  <a:srgbClr val="B9770E"/>
                </a:solidFill>
                <a:latin typeface="Calibri"/>
              </a:rPr>
              <a:t>48d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Araçoiaba da Serra 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99632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72784" y="496336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10636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Araçoiaba da Serra 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961120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34272" y="496336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10635 </a:t>
            </a:r>
            <a:r>
              <a:rPr sz="850" b="1">
                <a:solidFill>
                  <a:srgbClr val="B9770E"/>
                </a:solidFill>
                <a:latin typeface="Calibri"/>
              </a:rPr>
              <a:t>46d </a:t>
            </a:r>
            <a:r>
              <a:rPr sz="800" b="0">
                <a:solidFill>
                  <a:srgbClr val="504C63"/>
                </a:solidFill>
                <a:latin typeface="Calibri"/>
              </a:rPr>
              <a:t>· Araçoiaba da Serra 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99632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72784" y="515538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11318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00" b="0">
                <a:solidFill>
                  <a:srgbClr val="504C63"/>
                </a:solidFill>
                <a:latin typeface="Calibri"/>
              </a:rPr>
              <a:t>· Fazenda Limão 1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961120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34272" y="515538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11156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Caxambu 1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02920" y="4672584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0936" y="4698187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Sem cluster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434840" y="4698187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7 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02920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76072" y="496336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8859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264408" y="4946904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337560" y="4963363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8858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2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02920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76072" y="515538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8853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2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64408" y="5138928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337560" y="5155387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8852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Marabá 2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02920" y="53309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76072" y="534741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9718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Guajirú 1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264408" y="5330952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337560" y="5347411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9717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Guajirú 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02920" y="552297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6072" y="553943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11185 </a:t>
            </a:r>
            <a:r>
              <a:rPr sz="850" b="1">
                <a:solidFill>
                  <a:srgbClr val="B9770E"/>
                </a:solidFill>
                <a:latin typeface="Calibri"/>
              </a:rPr>
              <a:t>34d </a:t>
            </a:r>
            <a:r>
              <a:rPr sz="800" b="0">
                <a:solidFill>
                  <a:srgbClr val="504C63"/>
                </a:solidFill>
                <a:latin typeface="Calibri"/>
              </a:rPr>
              <a:t>· Poconé 1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199632" y="5385816"/>
            <a:ext cx="5440680" cy="228600"/>
          </a:xfrm>
          <a:prstGeom prst="roundRect">
            <a:avLst>
              <a:gd name="adj" fmla="val 16000"/>
            </a:avLst>
          </a:prstGeom>
          <a:solidFill>
            <a:srgbClr val="19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327648" y="5411419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Marcelo Martineli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131552" y="541141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A9DB21"/>
                </a:solidFill>
                <a:latin typeface="Calibri"/>
              </a:rPr>
              <a:t>3 OS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199632" y="566013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272784" y="567659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8796 </a:t>
            </a:r>
            <a:r>
              <a:rPr sz="850" b="1">
                <a:solidFill>
                  <a:srgbClr val="B3261E"/>
                </a:solidFill>
                <a:latin typeface="Calibri"/>
              </a:rPr>
              <a:t>79d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Cedro 1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961120" y="5660136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034272" y="5676595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8799 </a:t>
            </a:r>
            <a:r>
              <a:rPr sz="850" b="1">
                <a:solidFill>
                  <a:srgbClr val="B3261E"/>
                </a:solidFill>
                <a:latin typeface="Calibri"/>
              </a:rPr>
              <a:t>75d </a:t>
            </a:r>
            <a:r>
              <a:rPr sz="800" b="0">
                <a:solidFill>
                  <a:srgbClr val="504C63"/>
                </a:solidFill>
                <a:latin typeface="Calibri"/>
              </a:rPr>
              <a:t>· Cedro 2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199632" y="5852160"/>
            <a:ext cx="2679192" cy="169164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272784" y="5868619"/>
            <a:ext cx="25511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91528"/>
                </a:solidFill>
                <a:latin typeface="Calibri"/>
              </a:rPr>
              <a:t>OS 8783 </a:t>
            </a:r>
            <a:r>
              <a:rPr sz="850" b="1">
                <a:solidFill>
                  <a:srgbClr val="B3261E"/>
                </a:solidFill>
                <a:latin typeface="Calibri"/>
              </a:rPr>
              <a:t>62d </a:t>
            </a:r>
            <a:r>
              <a:rPr sz="800" b="0">
                <a:solidFill>
                  <a:srgbClr val="504C63"/>
                </a:solidFill>
                <a:latin typeface="Calibri"/>
              </a:rPr>
              <a:t>· Demerval Lobão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04C63"/>
                </a:solidFill>
                <a:latin typeface="Calibri"/>
              </a:rPr>
              <a:t>PCM - SEMANA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528"/>
                </a:solidFill>
                <a:latin typeface="Calibri"/>
              </a:rPr>
              <a:t>Nossos desafios — o combinado da segunda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3112" cy="9525"/>
          </a:xfrm>
          <a:prstGeom prst="rect">
            <a:avLst/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04C63"/>
                </a:solidFill>
                <a:latin typeface="Calibri"/>
              </a:rPr>
              <a:t>Semana 39 - 21/09 a 25/09 - PCM Grid 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21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Fechar a MPM de setembro (100% até 30/09)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o mês fecha na quarta — foco em RenoGrid, GD Energy e Alves Lima (0–20%) e nas 30 usinas pendentes da Thopen.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351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084832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Zerar as MPA vencidas mais antigas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Petrolina 2 (Axis, 104d — cobrar o desligamento), Mandaguaçu 1 (81d), Cedro 1 (79d) e as 5 da RenoGrid (Muito Crítico).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980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483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798064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Decidir as 6 MPS vencidas da Thopen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a 6340 fechou — agora a mais antiga é a SPDA de Araçoiaba da Serra 1 (81d): faz, reprograma ou cancela.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11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615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11296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Destravar os handovers mais antigos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Coração 1 e 2 (65d), Colorado 1 (45d) e Diamantino 1 (41d) — plano por usina no slide 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245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748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24528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Reduzir o estoque de corretivas +30d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23 OS — começar pelas 9 da Athon (Timon 1: trackers parados há 88d); cada supervisor olha o seu bloco do slide 10.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37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9880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3776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Análise de óleo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20 OS abertas — atualizar o estágio logístico (enviar / rota / usina / laboratório) na 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509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9D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01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9152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650992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3203A"/>
                </a:solidFill>
                <a:latin typeface="Calibri"/>
              </a:rPr>
              <a:t>Fechamento na sexta — 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04C63"/>
                </a:solidFill>
                <a:latin typeface="Calibri"/>
              </a:rPr>
              <a:t>na sexta (25/09) revisamos estes pontos com os dados novos da API — o que fechou, o que ficou.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