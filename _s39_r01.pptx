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548640" cy="54864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A9DB21"/>
                </a:solidFill>
                <a:latin typeface="Calibri"/>
              </a:rPr>
              <a:t>PCM - REUNIÃO DE SEMANA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Semana 39 — nossos desafios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FCBDA"/>
                </a:solidFill>
                <a:latin typeface="Calibri"/>
              </a:rPr>
              <a:t>21 a 25 de setembro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B96AD"/>
                </a:solidFill>
                <a:latin typeface="Calibri"/>
              </a:rPr>
              <a:t>Equipe de PCM - Grid Co. - dados da API Fracttal em 21/09 (R01)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A semana em uma página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39 - 21/09 a 25/09 -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590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3560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MPM de setembro — última semana — </a:t>
            </a:r>
            <a:r>
              <a:rPr sz="1200" b="0">
                <a:solidFill>
                  <a:srgbClr val="504C63"/>
                </a:solidFill>
                <a:latin typeface="Calibri"/>
              </a:rPr>
              <a:t>51% (670 de 1315 tarefas) — o mês fecha na quarta 30/09 (slide 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208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8940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3911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MPA vencidas — </a:t>
            </a:r>
            <a:r>
              <a:rPr sz="1200" b="0">
                <a:solidFill>
                  <a:srgbClr val="504C63"/>
                </a:solidFill>
                <a:latin typeface="Calibri"/>
              </a:rPr>
              <a:t>subiram para 29 OS — Petrolina 2 (Axis) chegou a 104 dias (slide 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243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9290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4261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MPS vencidas — </a:t>
            </a:r>
            <a:r>
              <a:rPr sz="1200" b="0">
                <a:solidFill>
                  <a:srgbClr val="504C63"/>
                </a:solidFill>
                <a:latin typeface="Calibri"/>
              </a:rPr>
              <a:t>6 OS, todas Thopen — a OS 6340 (118d) FECHOU; a mais antiga agora é Araçoiaba da Serra 1 (81d) (slide 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278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9641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2461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Handover — </a:t>
            </a:r>
            <a:r>
              <a:rPr sz="1200" b="0">
                <a:solidFill>
                  <a:srgbClr val="504C63"/>
                </a:solidFill>
                <a:latin typeface="Calibri"/>
              </a:rPr>
              <a:t>16 OS abertas, todas Thopen — Inhapi 1 fechou; a mais antiga é Coração 1 e 2 (65d) (slide 9)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313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9991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49624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Corretivas — </a:t>
            </a:r>
            <a:r>
              <a:rPr sz="1200" b="0">
                <a:solidFill>
                  <a:srgbClr val="504C63"/>
                </a:solidFill>
                <a:latin typeface="Calibri"/>
              </a:rPr>
              <a:t>caíram para 102 abertas (eram 126); 23 com +30 dias — backlog por supervisor (slide 10)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348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50342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45312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Pontos por cliente — </a:t>
            </a:r>
            <a:r>
              <a:rPr sz="1200" b="0">
                <a:solidFill>
                  <a:srgbClr val="504C63"/>
                </a:solidFill>
                <a:latin typeface="Calibri"/>
              </a:rPr>
              <a:t>Ultragaz zerou corretivas e fechou MPM — risco concentra em Thopen, Athon, Axis e RenoGrid (slides 4 a 6)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03834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10692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05663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Análise de óleo — </a:t>
            </a:r>
            <a:r>
              <a:rPr sz="1200" b="0">
                <a:solidFill>
                  <a:srgbClr val="504C63"/>
                </a:solidFill>
                <a:latin typeface="Calibri"/>
              </a:rPr>
              <a:t>20 OS abertas — manter a logística enviar / rota / usina / laboratório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6418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71042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66013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Ritmo da semana passada — </a:t>
            </a:r>
            <a:r>
              <a:rPr sz="1200" b="0">
                <a:solidFill>
                  <a:srgbClr val="504C63"/>
                </a:solidFill>
                <a:latin typeface="Calibri"/>
              </a:rPr>
              <a:t>S38 fechou 457 OS; entraram 104 corretivas novas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PORTFÓLIO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Panorama por cliente — onde está o risco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39 - 21/09 a 25/09 -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corretivas abertas (eram 126)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MPA/MPS vencidas (eram 31)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51%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MPM de setembro (era 37%)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371600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46304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975104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OS paradas há +30 dias, todos os tipos (eram 70)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2920" y="2606040"/>
          <a:ext cx="11155680" cy="31821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1783080"/>
                <a:gridCol w="640080"/>
                <a:gridCol w="1234440"/>
                <a:gridCol w="1234440"/>
                <a:gridCol w="914400"/>
                <a:gridCol w="3931920"/>
              </a:tblGrid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Corretivas abertas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+30d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MPA ab/venc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MPS ab/venc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MPM set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OS aberta mais antiga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Thopen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58 em 22 usinas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14 / 12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6 / 6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8466 · Mandaguaçu 1 </a:t>
                      </a:r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· 81d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Athon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22 em 8 usinas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 /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8338 · Timon 1 </a:t>
                      </a:r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· 88d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Axis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6 em 4 usinas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5 / 5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48%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7103 · Petrolina 2 </a:t>
                      </a:r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· 104d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Greenyellow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 em 1 usinas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 / 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94%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8796 · Cedro 1 </a:t>
                      </a:r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· 79d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RenoGrid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 em 1 usinas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5 / 5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10245 · Colíder 2 </a:t>
                      </a:r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· 37d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2C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4 em 3 usinas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 /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10149 · Sete Lagoas 2 </a:t>
                      </a:r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· 55d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Sal Energia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4 em 3 usinas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44%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11483 · Aquiraz 2 (Carosa) </a:t>
                      </a:r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· 32d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GD Energy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 em 2 usinas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9718 · Guajirú 1 </a:t>
                      </a:r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· 62d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Ultragaz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 /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10319 · Ibirapuã 1 </a:t>
                      </a:r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· 41d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Semp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 em 1 usinas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11454 · Tucano 1 </a:t>
                      </a:r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· 30d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Alves Lima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12653 · Morada Nova 1 </a:t>
                      </a:r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· 10d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PONTOS POR CLIENTE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Thopen — maior volume do portfólio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39 - 21/09 a 25/09 -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corretivas abertas em 22 usinas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MPA vencidas (14 abertas)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MPS vencidas (6 abertas)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371600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46304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55%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975104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MPM set (448/822 tarefas)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606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03A"/>
                </a:solidFill>
                <a:latin typeface="Calibri"/>
              </a:rPr>
              <a:t>Usinas com mais corretivas abertas: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2971800"/>
          <a:ext cx="512064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Usina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Corretivas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Altair 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10 OS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Céu Azul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8 OS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Coração 1 e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5 OS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5989320" y="2971800"/>
            <a:ext cx="5669280" cy="169164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154680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Vitória da semana: </a:t>
            </a:r>
            <a:r>
              <a:rPr sz="1200" b="1">
                <a:solidFill>
                  <a:srgbClr val="2E7D32"/>
                </a:solidFill>
                <a:latin typeface="Calibri"/>
              </a:rPr>
              <a:t>a OS 6340 (MPS de Aparecida do Taboado, aberta desde 19/05) foi FECHADA após ~4 meses.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91528"/>
                </a:solidFill>
                <a:latin typeface="Calibri"/>
              </a:rPr>
              <a:t>Mais antiga da Thopen agora: </a:t>
            </a:r>
            <a:r>
              <a:rPr sz="1100" b="0">
                <a:solidFill>
                  <a:srgbClr val="504C63"/>
                </a:solidFill>
                <a:latin typeface="Calibri"/>
              </a:rPr>
              <a:t>OS 8466 — Mandaguaçu 1 (MPA Caixa d'água), </a:t>
            </a:r>
            <a:r>
              <a:rPr sz="1100" b="1">
                <a:solidFill>
                  <a:srgbClr val="B3261E"/>
                </a:solidFill>
                <a:latin typeface="Calibri"/>
              </a:rPr>
              <a:t>81 dias</a:t>
            </a:r>
            <a:r>
              <a:rPr sz="1100" b="0">
                <a:solidFill>
                  <a:srgbClr val="504C63"/>
                </a:solidFill>
                <a:latin typeface="Calibri"/>
              </a:rPr>
              <a:t>. No portfólio, a mais antiga é a </a:t>
            </a:r>
            <a:r>
              <a:rPr sz="1100" b="1">
                <a:solidFill>
                  <a:srgbClr val="B3261E"/>
                </a:solidFill>
                <a:latin typeface="Calibri"/>
              </a:rPr>
              <a:t>OS 7103 — Petrolina 2 (Axis), 104 dias</a:t>
            </a:r>
            <a:r>
              <a:rPr sz="1100" b="0">
                <a:solidFill>
                  <a:srgbClr val="504C63"/>
                </a:solidFill>
                <a:latin typeface="Calibr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800600"/>
            <a:ext cx="11155680" cy="123444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56048"/>
            <a:ext cx="107899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Desafio da semana: </a:t>
            </a:r>
            <a:r>
              <a:rPr sz="1200" b="0">
                <a:solidFill>
                  <a:srgbClr val="23203A"/>
                </a:solidFill>
                <a:latin typeface="Calibri"/>
              </a:rPr>
              <a:t>fechar o mês — MPM em 55% com 30 usinas pendentes; </a:t>
            </a:r>
            <a:r>
              <a:rPr sz="1200" b="0">
                <a:solidFill>
                  <a:srgbClr val="23203A"/>
                </a:solidFill>
                <a:latin typeface="Calibri"/>
              </a:rPr>
              <a:t>12 MPA e 6 MPS vencidas (Araçoiaba SPDA e Mandaguaçu caixa d'água com 81d) e 16 handovers abertos (slide 9).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Altair 1 e Céu Azul 1 seguem liderando em corretivas — revisar na programação de hoje.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PONTOS POR CLIENTE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Athon e Axis — atenção concentrada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39 - 21/09 a 25/09 -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40680" cy="48463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91528"/>
                </a:solidFill>
                <a:latin typeface="Calibri"/>
              </a:rPr>
              <a:t>Athon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2311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B9770E"/>
                </a:solidFill>
                <a:latin typeface="Calibri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6974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corretivas abertas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0591" y="214884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2311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B3261E"/>
                </a:solidFill>
                <a:latin typeface="Calibr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6974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com +30 dias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9663" y="214884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2" y="22311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B3261E"/>
                </a:solidFill>
                <a:latin typeface="Calibri"/>
              </a:rPr>
              <a:t>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26974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MPM setembro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0040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91528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200400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OS 8338 — Timon 1: trackers parados há 88 dias (desde 24/06).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6557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9152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65576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Marabá 2 e Santa Maria do Pará lideram em corretivas abertas (5 cada).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3075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91528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730752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9 das 22 corretivas já passaram de 30 dias.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9592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91528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995928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de setembro em 38% — 7 usinas pendentes até 30/09.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61104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91528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261104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MPA de Mãe do Rio 1 venceu 17/09 — em execução (plano de ação com a Athon).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120640"/>
            <a:ext cx="4983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5230368"/>
            <a:ext cx="468172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91528"/>
                </a:solidFill>
                <a:latin typeface="Calibri"/>
              </a:rPr>
              <a:t>Desafio da semana: </a:t>
            </a:r>
            <a:r>
              <a:rPr sz="1100" b="0">
                <a:solidFill>
                  <a:srgbClr val="23203A"/>
                </a:solidFill>
                <a:latin typeface="Calibri"/>
              </a:rPr>
              <a:t>fechar as 7 usinas de MPM e decidir as 9 corretivas +30d.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417320"/>
            <a:ext cx="5440680" cy="48463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91528"/>
                </a:solidFill>
                <a:latin typeface="Calibri"/>
              </a:rPr>
              <a:t>Axis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214884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2311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B9770E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6248" y="26974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corretivas abertas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65592" y="214884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19" y="22311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B3261E"/>
                </a:solidFill>
                <a:latin typeface="Calibr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26974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com +30 dias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84663" y="214884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94391" y="22311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B9770E"/>
                </a:solidFill>
                <a:latin typeface="Calibri"/>
              </a:rPr>
              <a:t>48%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94391" y="26974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MPM setembro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20040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91528"/>
                </a:solidFill>
                <a:latin typeface="Calibr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3200400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As 5 MPA abertas estão TODAS vencidas — inclui Marialva 1 (crítica, pendente de envio de relatório).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363931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91528"/>
                </a:solidFill>
                <a:latin typeface="Calibr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3639312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Petrolina 2 chegou a 104 dias (desde 08/06) — o desligamento foi remarcado para 10/09 (Caio/Axis): confirmar se ocorreu e se os ensaios foram concluídos.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078224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91528"/>
                </a:solidFill>
                <a:latin typeface="Calibr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4078224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de setembro em 48% — 3 usinas pendentes.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434340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91528"/>
                </a:solidFill>
                <a:latin typeface="Calibr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4343400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6 corretivas abertas em 4 usinas — Marialva 1 concentra 3.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46520" y="5120640"/>
            <a:ext cx="4983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01968" y="5230368"/>
            <a:ext cx="468172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91528"/>
                </a:solidFill>
                <a:latin typeface="Calibri"/>
              </a:rPr>
              <a:t>Desafio da semana: </a:t>
            </a:r>
            <a:r>
              <a:rPr sz="1100" b="0">
                <a:solidFill>
                  <a:srgbClr val="23203A"/>
                </a:solidFill>
                <a:latin typeface="Calibri"/>
              </a:rPr>
              <a:t>confirmar se o desligamento de Petrolina 2 (remarcado para 10/09) foi executado e concluir os ensaios.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PONTOS POR CLIENTE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Demais clientes — um ponto por linha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39 - 21/09 a 25/09 -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63624"/>
            <a:ext cx="82296" cy="3657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934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RenoGrid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61848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5 MPA abertas, TODAS vencidas e Muito Crítico na Gerencial (cluster com 1 técnico só); MPM em 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75688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30552"/>
            <a:ext cx="82296" cy="3657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7627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GD Energy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185416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em 20%; exaustores do trafo de Guajirú seguem abertos há 62 dias (2 corretivas +30d).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42616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697480"/>
            <a:ext cx="82296" cy="3657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432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Alves Lima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752344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de setembro em 0% (12 tarefas em Morada Nova 1) — corretivas zeradas.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09544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264408"/>
            <a:ext cx="82296" cy="365760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101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Sal Energia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319272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subiu de 8% para 44% — bom avanço; reparo de estruturas de Aquiraz 2 chegou a 32d.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76472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831335"/>
            <a:ext cx="82296" cy="365760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7705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Greenyellow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886200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em 94%; seguem as 3 MPA vencidas — Cedro 1 (79d) com falta de ferramentas relatada.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343400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398264"/>
            <a:ext cx="82296" cy="365760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44398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2C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45312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em 68% (entraram usinas novas no plano); chamado STI de Sete Lagoas 2 há 55d; MPA de Tupi Paulista vencida.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910328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965192"/>
            <a:ext cx="82296" cy="3657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01091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Ultragaz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5020056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ZEROU as corretivas e fechou a MPM em 100% — restam só as 2 MPA vencidas de Ibirapuã (41d).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477256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532120"/>
            <a:ext cx="82296" cy="3657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5778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Semp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5586984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100%; análise do descasamento de geração de Tucano 1 completou 30 dias.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PREVENTIVA MENSAL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MPM de setembro — última semana, 51% feito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39 - 21/09 a 25/09 -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51%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670 de 1315 tarefas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7D32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clientes já em 100%: Ultragaz · Semp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em 0–20%: RenoGrid · GD · Alves Lima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371600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46304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91528"/>
                </a:solidFill>
                <a:latin typeface="Calibri"/>
              </a:rPr>
              <a:t>645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975104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tarefas p/ fechar 100% até 30/09 (~81/dia útil)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2920" y="2606040"/>
          <a:ext cx="1115568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1005840"/>
                <a:gridCol w="731520"/>
                <a:gridCol w="1097280"/>
                <a:gridCol w="6766560"/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Feitas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Usinas pend.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Onde falta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RenoGrid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0/34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Colíder 2, Elias Fausto 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Alves Lima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0/12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Morada Nova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GD Energy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8/41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Guajirú 1, Sol do Norte 1, Sol do Norte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Athon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67/178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Timon 1, Timon 2, Jacundá 1, Marabá 1 +3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Sal Energia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27/62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44%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Aquiraz 1 (Salvales), Cascavel 1 (Sunpower), Quixadá 1 (Hortina)…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Axis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29/60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48%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Linhares 1, Marialva 1, Petrolina 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Thopen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448/822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Altair 1, Aparecida do Taboado 1 e 2, Araçoiaba da Serra 1… +26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2C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30/44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União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Greenyellow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17/18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94%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Castelo do Piauí 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Ultragaz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29/29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Semp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15/15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02920" y="61173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91528"/>
                </a:solidFill>
                <a:latin typeface="Calibri"/>
              </a:rPr>
              <a:t>Teste de ritmo: </a:t>
            </a:r>
            <a:r>
              <a:rPr sz="1000" b="0">
                <a:solidFill>
                  <a:srgbClr val="504C63"/>
                </a:solidFill>
                <a:latin typeface="Calibri"/>
              </a:rPr>
              <a:t>645 tarefas em 8 dias úteis ≈ 81/dia, o dobro da semana passada — decidir hoje o que fecha e o que será justificado.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ANUAIS E SEMESTRAIS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MPA e MPS — abertas e vencidas por cliente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39 - 21/09 a 25/09 -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OS de MPA abertas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MPA já vencidas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OS de MPS abertas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371600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46304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975104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MPS vencidas (todas Thopen)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395728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91528"/>
                </a:solidFill>
                <a:latin typeface="Calibri"/>
              </a:rPr>
              <a:t>MPS: </a:t>
            </a:r>
            <a:r>
              <a:rPr sz="1000" b="0">
                <a:solidFill>
                  <a:srgbClr val="504C63"/>
                </a:solidFill>
                <a:latin typeface="Calibri"/>
              </a:rPr>
              <a:t>6 abertas / 6 vencidas — todas Thopen; mais antiga OS 8401 · Araçoiaba da Serra 1 · 81d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2606040"/>
          <a:ext cx="11155680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960120"/>
                <a:gridCol w="2011680"/>
                <a:gridCol w="1737360"/>
                <a:gridCol w="1051560"/>
                <a:gridCol w="420624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MPA ab/venc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MPA mais antiga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Onde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Criticidade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Observações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Thopen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14 / 12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OS 8466 · Mandaguaçu 1 · 81d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Araçoiaba da Serra 1, Araçoiaba da… +16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Crítico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Mandaguaçu 1: 25/08/2026: Auxílio na semana do dia 24/08 foi inviabilizado pela Thopen, e será…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Axis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5 / 5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OS 7103 · Petrolina 2 · 104d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Marialva 1, Petrolina 2 +1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Crítico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Petrolina 2: 01/09/2026: Desligamento remarcado para o dia 10/09/2026, feito pelo Caio da Axis.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RenoGrid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5 / 5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9770E"/>
                          </a:solidFill>
                          <a:latin typeface="Calibri"/>
                        </a:rPr>
                        <a:t>OS 10245 · Colíder 2 · 37d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Colíder 2, Crateús 1 +3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Muito Crítico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Colíder 2: 01/09/2026: Adriano apresentou problemas relacionados à mobilização de ônibus.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Greenyellow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3 / 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OS 8796 · Cedro 1 · 79d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Cedro 1, Cedro 2 +1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Crítico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Cedro 1: 25/08/2026: Foi feita eunião de alinhamento com o técnico Leonardo Dias dia 20/08…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Ultragaz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 /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9770E"/>
                          </a:solidFill>
                          <a:latin typeface="Calibri"/>
                        </a:rPr>
                        <a:t>OS 10319 · Ibirapuã 1 · 41d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Ibirapuã 1, Ibirapuã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9770E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Ibirapuã 1: 25/08/2026: MPA em execução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Athon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 /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9770E"/>
                          </a:solidFill>
                          <a:latin typeface="Calibri"/>
                        </a:rPr>
                        <a:t>OS 13306 · Mãe do Rio 1 · 3d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Mãe do Rio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E7D32"/>
                          </a:solidFill>
                          <a:latin typeface="Calibri"/>
                        </a:rPr>
                        <a:t>Baixo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Mãe do Rio 1: 06/07/2026: MPS prevista para o dia 01/07/2026 pela Athon está inclusa nessa MPA…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2C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 / 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9770E"/>
                          </a:solidFill>
                          <a:latin typeface="Calibri"/>
                        </a:rPr>
                        <a:t>OS 13184 · Tupi Paulista 1  · 12d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Tupi Paulista 1 e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9770E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297680" y="6473952"/>
            <a:ext cx="7360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504C63"/>
                </a:solidFill>
                <a:latin typeface="Calibri"/>
              </a:rPr>
              <a:t>Criticidade e observações: Gerencial - PCM_2026_R00, aba MPAS (usina mais crítica de cada cliente) · 21/09.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Handover — pendências de entrada de usina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39 - 21/09 a 25/09 -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OS de handover abertas (todas Thopen)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91528"/>
                </a:solidFill>
                <a:latin typeface="Calibr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usinas com handover aberto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já passaram da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371600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46304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65d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975104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a mais antiga (Coração 1 e 2)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2920" y="2606040"/>
          <a:ext cx="11155679" cy="3653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234440"/>
                <a:gridCol w="777240"/>
                <a:gridCol w="3749039"/>
                <a:gridCol w="1097280"/>
                <a:gridCol w="1645920"/>
              </a:tblGrid>
              <a:tr h="20299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Usina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OS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Tarefas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Escopo mais antigo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Programada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Idade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</a:tr>
              <a:tr h="20299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Coração 1 e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9534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PPCI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17/07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B3261E"/>
                          </a:solidFill>
                          <a:latin typeface="Calibri"/>
                        </a:rPr>
                        <a:t>65d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0299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Colorado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10607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Transformador de Potência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06/08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45d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0299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Diamantino 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10971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INFRAESTRUTURA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10/08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41d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0299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Guatambú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10829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Sistema de Supervisório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12/08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39d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0299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Caicó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11557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INFRAESTRUTURA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25/08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26d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0299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Rodrigues 2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12996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Inversores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08/09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12d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0299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Santo Antônio da Platina 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12876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Ar Condicionado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08/09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12d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0299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Santo Antônio da Platina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12876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Sistema de Supervisório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08/09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12d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0299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Pharmas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12900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Transformador de Potência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14/09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6d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0299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Canarana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13623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Trackers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15/09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5d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0299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Pharmas 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12901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Transformador de Potência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15/09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5d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0299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Cipó Guaçu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13633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FOSSA SEPTICA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16/09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4d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0299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Itajá 1 e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13730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Nobreak e Banco de Baterias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17/09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3d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0299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Pharmas 4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12902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Transformador de Potência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17/09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3d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0299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Canarana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13624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Nobreak e Banco de Baterias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21/09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vence esta semana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0299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Alvares Machado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13758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Transformador de Potência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22/09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vence esta semana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0299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Assis Chateaubriand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13835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Nobreak e Banco de Baterias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24/09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vence esta semana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297680" y="6473952"/>
            <a:ext cx="7360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504C63"/>
                </a:solidFill>
                <a:latin typeface="Calibri"/>
              </a:rPr>
              <a:t>OS 12876 atende duas classificações de Santo Antônio da Platina — 17 linhas para 16 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O estoque antigo por supervisor — 69 OS há +30 dias (23 corretivas)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39 - 21/09 a 25/09 -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440680" cy="228600"/>
          </a:xfrm>
          <a:prstGeom prst="roundRect">
            <a:avLst>
              <a:gd name="adj" fmla="val 16000"/>
            </a:avLst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351483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Pedro Candido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351483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9DB21"/>
                </a:solidFill>
                <a:latin typeface="Calibri"/>
              </a:rPr>
              <a:t>18 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23060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616659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8338 </a:t>
            </a:r>
            <a:r>
              <a:rPr sz="850" b="1">
                <a:solidFill>
                  <a:srgbClr val="B3261E"/>
                </a:solidFill>
                <a:latin typeface="Calibri"/>
              </a:rPr>
              <a:t>88d </a:t>
            </a:r>
            <a:r>
              <a:rPr sz="850" b="0">
                <a:solidFill>
                  <a:srgbClr val="23203A"/>
                </a:solidFill>
                <a:latin typeface="Calibri"/>
              </a:rPr>
              <a:t>· Timon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4408" y="160020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4408" y="1623060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1616659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8466 </a:t>
            </a:r>
            <a:r>
              <a:rPr sz="850" b="1">
                <a:solidFill>
                  <a:srgbClr val="B3261E"/>
                </a:solidFill>
                <a:latin typeface="Calibri"/>
              </a:rPr>
              <a:t>81d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Mandaguaçu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79222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815084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808683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8830 </a:t>
            </a:r>
            <a:r>
              <a:rPr sz="850" b="1">
                <a:solidFill>
                  <a:srgbClr val="B3261E"/>
                </a:solidFill>
                <a:latin typeface="Calibri"/>
              </a:rPr>
              <a:t>80d </a:t>
            </a:r>
            <a:r>
              <a:rPr sz="850" b="0">
                <a:solidFill>
                  <a:srgbClr val="23203A"/>
                </a:solidFill>
                <a:latin typeface="Calibri"/>
              </a:rPr>
              <a:t>· Timon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64408" y="179222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64408" y="1815084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4136" y="1808683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9442 </a:t>
            </a:r>
            <a:r>
              <a:rPr sz="850" b="1">
                <a:solidFill>
                  <a:srgbClr val="B3261E"/>
                </a:solidFill>
                <a:latin typeface="Calibri"/>
              </a:rPr>
              <a:t>68d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Marialva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198424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007107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2000707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9489 </a:t>
            </a:r>
            <a:r>
              <a:rPr sz="850" b="1">
                <a:solidFill>
                  <a:srgbClr val="B3261E"/>
                </a:solidFill>
                <a:latin typeface="Calibri"/>
              </a:rPr>
              <a:t>67d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Céu Azul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64408" y="198424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64408" y="2007107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74136" y="2000707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9602 </a:t>
            </a:r>
            <a:r>
              <a:rPr sz="850" b="1">
                <a:solidFill>
                  <a:srgbClr val="B3261E"/>
                </a:solidFill>
                <a:latin typeface="Calibri"/>
              </a:rPr>
              <a:t>62d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Mandaguaçu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2176272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2199132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92731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9915 </a:t>
            </a:r>
            <a:r>
              <a:rPr sz="850" b="1">
                <a:solidFill>
                  <a:srgbClr val="B9770E"/>
                </a:solidFill>
                <a:latin typeface="Calibri"/>
              </a:rPr>
              <a:t>59d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Mandaguaçu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64408" y="2176272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64408" y="2199132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74136" y="2192731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10215 </a:t>
            </a:r>
            <a:r>
              <a:rPr sz="850" b="1">
                <a:solidFill>
                  <a:srgbClr val="B9770E"/>
                </a:solidFill>
                <a:latin typeface="Calibri"/>
              </a:rPr>
              <a:t>54d </a:t>
            </a:r>
            <a:r>
              <a:rPr sz="850" b="0">
                <a:solidFill>
                  <a:srgbClr val="23203A"/>
                </a:solidFill>
                <a:latin typeface="Calibri"/>
              </a:rPr>
              <a:t>· Guatambú 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236829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2391156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2384755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10501 </a:t>
            </a:r>
            <a:r>
              <a:rPr sz="850" b="1">
                <a:solidFill>
                  <a:srgbClr val="B9770E"/>
                </a:solidFill>
                <a:latin typeface="Calibri"/>
              </a:rPr>
              <a:t>48d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Colorado 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64408" y="236829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64408" y="2391156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74136" y="2384755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10185 </a:t>
            </a:r>
            <a:r>
              <a:rPr sz="850" b="1">
                <a:solidFill>
                  <a:srgbClr val="B9770E"/>
                </a:solidFill>
                <a:latin typeface="Calibri"/>
              </a:rPr>
              <a:t>48d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Cidade Gaúcha 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256032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2583179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" y="2576779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10815 </a:t>
            </a:r>
            <a:r>
              <a:rPr sz="850" b="1">
                <a:solidFill>
                  <a:srgbClr val="B9770E"/>
                </a:solidFill>
                <a:latin typeface="Calibri"/>
              </a:rPr>
              <a:t>43d </a:t>
            </a:r>
            <a:r>
              <a:rPr sz="850" b="0">
                <a:solidFill>
                  <a:srgbClr val="23203A"/>
                </a:solidFill>
                <a:latin typeface="Calibri"/>
              </a:rPr>
              <a:t>· Guatambú 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64408" y="256032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64408" y="2583179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74136" y="2576779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10967 </a:t>
            </a:r>
            <a:r>
              <a:rPr sz="850" b="1">
                <a:solidFill>
                  <a:srgbClr val="B9770E"/>
                </a:solidFill>
                <a:latin typeface="Calibri"/>
              </a:rPr>
              <a:t>41d </a:t>
            </a:r>
            <a:r>
              <a:rPr sz="850" b="0">
                <a:solidFill>
                  <a:srgbClr val="23203A"/>
                </a:solidFill>
                <a:latin typeface="Calibri"/>
              </a:rPr>
              <a:t>· Timon 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275234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2775203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" y="2768803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10790 </a:t>
            </a:r>
            <a:r>
              <a:rPr sz="850" b="1">
                <a:solidFill>
                  <a:srgbClr val="B9770E"/>
                </a:solidFill>
                <a:latin typeface="Calibri"/>
              </a:rPr>
              <a:t>41d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Mandaguaçu 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64408" y="275234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64408" y="2775203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74136" y="2768803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11134 </a:t>
            </a:r>
            <a:r>
              <a:rPr sz="850" b="1">
                <a:solidFill>
                  <a:srgbClr val="B9770E"/>
                </a:solidFill>
                <a:latin typeface="Calibri"/>
              </a:rPr>
              <a:t>39d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Mandaguaçu 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294436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" y="2967227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" y="2960827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11016 </a:t>
            </a:r>
            <a:r>
              <a:rPr sz="850" b="1">
                <a:solidFill>
                  <a:srgbClr val="B9770E"/>
                </a:solidFill>
                <a:latin typeface="Calibri"/>
              </a:rPr>
              <a:t>39d </a:t>
            </a:r>
            <a:r>
              <a:rPr sz="850" b="0">
                <a:solidFill>
                  <a:srgbClr val="23203A"/>
                </a:solidFill>
                <a:latin typeface="Calibri"/>
              </a:rPr>
              <a:t>· Guatambú 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64408" y="294436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64408" y="2967227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74136" y="2960827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11239 </a:t>
            </a:r>
            <a:r>
              <a:rPr sz="850" b="1">
                <a:solidFill>
                  <a:srgbClr val="B9770E"/>
                </a:solidFill>
                <a:latin typeface="Calibri"/>
              </a:rPr>
              <a:t>37d </a:t>
            </a:r>
            <a:r>
              <a:rPr sz="850" b="0">
                <a:solidFill>
                  <a:srgbClr val="23203A"/>
                </a:solidFill>
                <a:latin typeface="Calibri"/>
              </a:rPr>
              <a:t>· Timon 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3136391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" y="3159251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152851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10169 </a:t>
            </a:r>
            <a:r>
              <a:rPr sz="850" b="1">
                <a:solidFill>
                  <a:srgbClr val="B9770E"/>
                </a:solidFill>
                <a:latin typeface="Calibri"/>
              </a:rPr>
              <a:t>34d </a:t>
            </a:r>
            <a:r>
              <a:rPr sz="850" b="0">
                <a:solidFill>
                  <a:srgbClr val="23203A"/>
                </a:solidFill>
                <a:latin typeface="Calibri"/>
              </a:rPr>
              <a:t>· Santarém 1 e 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64408" y="3136391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64408" y="3159251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74136" y="3152851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11524 </a:t>
            </a:r>
            <a:r>
              <a:rPr sz="850" b="1">
                <a:solidFill>
                  <a:srgbClr val="B9770E"/>
                </a:solidFill>
                <a:latin typeface="Calibri"/>
              </a:rPr>
              <a:t>32d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Matões 2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99632" y="1325880"/>
            <a:ext cx="5440680" cy="228600"/>
          </a:xfrm>
          <a:prstGeom prst="roundRect">
            <a:avLst>
              <a:gd name="adj" fmla="val 16000"/>
            </a:avLst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27648" y="1351483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Fred Alexandrino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31552" y="1351483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9DB21"/>
                </a:solidFill>
                <a:latin typeface="Calibri"/>
              </a:rPr>
              <a:t>12 OS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99632" y="160020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99632" y="1623060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0" y="1616659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8626 </a:t>
            </a:r>
            <a:r>
              <a:rPr sz="850" b="1">
                <a:solidFill>
                  <a:srgbClr val="B3261E"/>
                </a:solidFill>
                <a:latin typeface="Calibri"/>
              </a:rPr>
              <a:t>73d </a:t>
            </a:r>
            <a:r>
              <a:rPr sz="850" b="0">
                <a:solidFill>
                  <a:srgbClr val="23203A"/>
                </a:solidFill>
                <a:latin typeface="Calibri"/>
              </a:rPr>
              <a:t>· Topázio (Matão 2)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961120" y="160020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961120" y="1623060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70848" y="1616659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9723 </a:t>
            </a:r>
            <a:r>
              <a:rPr sz="850" b="1">
                <a:solidFill>
                  <a:srgbClr val="B3261E"/>
                </a:solidFill>
                <a:latin typeface="Calibri"/>
              </a:rPr>
              <a:t>62d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Topázio (Matão 2)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99632" y="179222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99632" y="1815084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9360" y="1808683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9722 </a:t>
            </a:r>
            <a:r>
              <a:rPr sz="850" b="1">
                <a:solidFill>
                  <a:srgbClr val="B3261E"/>
                </a:solidFill>
                <a:latin typeface="Calibri"/>
              </a:rPr>
              <a:t>62d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Matão 1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961120" y="179222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961120" y="1815084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70848" y="1808683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10016 </a:t>
            </a:r>
            <a:r>
              <a:rPr sz="850" b="1">
                <a:solidFill>
                  <a:srgbClr val="B9770E"/>
                </a:solidFill>
                <a:latin typeface="Calibri"/>
              </a:rPr>
              <a:t>58d </a:t>
            </a:r>
            <a:r>
              <a:rPr sz="850" b="0">
                <a:solidFill>
                  <a:srgbClr val="23203A"/>
                </a:solidFill>
                <a:latin typeface="Calibri"/>
              </a:rPr>
              <a:t>· Boa Esperança do Su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199632" y="198424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199632" y="2007107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09360" y="2000707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10149 </a:t>
            </a:r>
            <a:r>
              <a:rPr sz="850" b="1">
                <a:solidFill>
                  <a:srgbClr val="B9770E"/>
                </a:solidFill>
                <a:latin typeface="Calibri"/>
              </a:rPr>
              <a:t>55d </a:t>
            </a:r>
            <a:r>
              <a:rPr sz="850" b="0">
                <a:solidFill>
                  <a:srgbClr val="23203A"/>
                </a:solidFill>
                <a:latin typeface="Calibri"/>
              </a:rPr>
              <a:t>· Sete Lagoas 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961120" y="198424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961120" y="2007107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070848" y="2000707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10297 </a:t>
            </a:r>
            <a:r>
              <a:rPr sz="850" b="1">
                <a:solidFill>
                  <a:srgbClr val="B9770E"/>
                </a:solidFill>
                <a:latin typeface="Calibri"/>
              </a:rPr>
              <a:t>53d </a:t>
            </a:r>
            <a:r>
              <a:rPr sz="850" b="0">
                <a:solidFill>
                  <a:srgbClr val="23203A"/>
                </a:solidFill>
                <a:latin typeface="Calibri"/>
              </a:rPr>
              <a:t>· Araputanga 1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99632" y="2176272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199632" y="2199132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09360" y="2192731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10030 </a:t>
            </a:r>
            <a:r>
              <a:rPr sz="850" b="1">
                <a:solidFill>
                  <a:srgbClr val="B9770E"/>
                </a:solidFill>
                <a:latin typeface="Calibri"/>
              </a:rPr>
              <a:t>53d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Matão 1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961120" y="2176272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961120" y="2199132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070848" y="2192731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10744 </a:t>
            </a:r>
            <a:r>
              <a:rPr sz="850" b="1">
                <a:solidFill>
                  <a:srgbClr val="B9770E"/>
                </a:solidFill>
                <a:latin typeface="Calibri"/>
              </a:rPr>
              <a:t>45d </a:t>
            </a:r>
            <a:r>
              <a:rPr sz="850" b="0">
                <a:solidFill>
                  <a:srgbClr val="23203A"/>
                </a:solidFill>
                <a:latin typeface="Calibri"/>
              </a:rPr>
              <a:t>· Ibaté 2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99632" y="236829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199632" y="2391156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09360" y="2384755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10743 </a:t>
            </a:r>
            <a:r>
              <a:rPr sz="850" b="1">
                <a:solidFill>
                  <a:srgbClr val="B9770E"/>
                </a:solidFill>
                <a:latin typeface="Calibri"/>
              </a:rPr>
              <a:t>45d </a:t>
            </a:r>
            <a:r>
              <a:rPr sz="850" b="0">
                <a:solidFill>
                  <a:srgbClr val="23203A"/>
                </a:solidFill>
                <a:latin typeface="Calibri"/>
              </a:rPr>
              <a:t>· Ibaté 1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961120" y="236829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961120" y="2391156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070848" y="2384755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10245 </a:t>
            </a:r>
            <a:r>
              <a:rPr sz="850" b="1">
                <a:solidFill>
                  <a:srgbClr val="B9770E"/>
                </a:solidFill>
                <a:latin typeface="Calibri"/>
              </a:rPr>
              <a:t>37d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Colíder 2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199632" y="256032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199632" y="2583179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2576779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11483 </a:t>
            </a:r>
            <a:r>
              <a:rPr sz="850" b="1">
                <a:solidFill>
                  <a:srgbClr val="B9770E"/>
                </a:solidFill>
                <a:latin typeface="Calibri"/>
              </a:rPr>
              <a:t>32d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Aquiraz 2 (Carosa)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961120" y="256032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61120" y="2583179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070848" y="2576779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11482 </a:t>
            </a:r>
            <a:r>
              <a:rPr sz="850" b="1">
                <a:solidFill>
                  <a:srgbClr val="B9770E"/>
                </a:solidFill>
                <a:latin typeface="Calibri"/>
              </a:rPr>
              <a:t>32d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Aquiraz 1 (Salvales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199632" y="2807208"/>
            <a:ext cx="5440680" cy="228600"/>
          </a:xfrm>
          <a:prstGeom prst="roundRect">
            <a:avLst>
              <a:gd name="adj" fmla="val 16000"/>
            </a:avLst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27648" y="2832811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Camila Viana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131552" y="2832811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9DB21"/>
                </a:solidFill>
                <a:latin typeface="Calibri"/>
              </a:rPr>
              <a:t>11 OS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199632" y="308152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199632" y="3104388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309360" y="3097987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8282 </a:t>
            </a:r>
            <a:r>
              <a:rPr sz="850" b="1">
                <a:solidFill>
                  <a:srgbClr val="B3261E"/>
                </a:solidFill>
                <a:latin typeface="Calibri"/>
              </a:rPr>
              <a:t>87d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Capitão Poço 1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961120" y="308152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961120" y="3104388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070848" y="3097987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9058 </a:t>
            </a:r>
            <a:r>
              <a:rPr sz="850" b="1">
                <a:solidFill>
                  <a:srgbClr val="B3261E"/>
                </a:solidFill>
                <a:latin typeface="Calibri"/>
              </a:rPr>
              <a:t>67d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Marabá 1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199632" y="3273552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199632" y="3296412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309360" y="3290011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10195 </a:t>
            </a:r>
            <a:r>
              <a:rPr sz="850" b="1">
                <a:solidFill>
                  <a:srgbClr val="B9770E"/>
                </a:solidFill>
                <a:latin typeface="Calibri"/>
              </a:rPr>
              <a:t>53d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Marabá 1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961120" y="3273552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961120" y="3296412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070848" y="3290011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11503 </a:t>
            </a:r>
            <a:r>
              <a:rPr sz="850" b="1">
                <a:solidFill>
                  <a:srgbClr val="B9770E"/>
                </a:solidFill>
                <a:latin typeface="Calibri"/>
              </a:rPr>
              <a:t>45d </a:t>
            </a:r>
            <a:r>
              <a:rPr sz="850" b="0">
                <a:solidFill>
                  <a:srgbClr val="23203A"/>
                </a:solidFill>
                <a:latin typeface="Calibri"/>
              </a:rPr>
              <a:t>· Aparecida do Taboad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199632" y="346557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199632" y="3488436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309360" y="3482035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10861 </a:t>
            </a:r>
            <a:r>
              <a:rPr sz="850" b="1">
                <a:solidFill>
                  <a:srgbClr val="B9770E"/>
                </a:solidFill>
                <a:latin typeface="Calibri"/>
              </a:rPr>
              <a:t>39d </a:t>
            </a:r>
            <a:r>
              <a:rPr sz="850" b="0">
                <a:solidFill>
                  <a:srgbClr val="23203A"/>
                </a:solidFill>
                <a:latin typeface="Calibri"/>
              </a:rPr>
              <a:t>· Aparecida do Taboad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961120" y="346557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961120" y="3488436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070848" y="3482035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10885 </a:t>
            </a:r>
            <a:r>
              <a:rPr sz="850" b="1">
                <a:solidFill>
                  <a:srgbClr val="B9770E"/>
                </a:solidFill>
                <a:latin typeface="Calibri"/>
              </a:rPr>
              <a:t>38d </a:t>
            </a:r>
            <a:r>
              <a:rPr sz="850" b="0">
                <a:solidFill>
                  <a:srgbClr val="23203A"/>
                </a:solidFill>
                <a:latin typeface="Calibri"/>
              </a:rPr>
              <a:t>· Brodowski 1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199632" y="365760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199632" y="3680460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309360" y="3674059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10810 </a:t>
            </a:r>
            <a:r>
              <a:rPr sz="850" b="1">
                <a:solidFill>
                  <a:srgbClr val="B9770E"/>
                </a:solidFill>
                <a:latin typeface="Calibri"/>
              </a:rPr>
              <a:t>38d </a:t>
            </a:r>
            <a:r>
              <a:rPr sz="850" b="0">
                <a:solidFill>
                  <a:srgbClr val="23203A"/>
                </a:solidFill>
                <a:latin typeface="Calibri"/>
              </a:rPr>
              <a:t>· Tanabi 1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8961120" y="365760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961120" y="3680460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070848" y="3674059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10809 </a:t>
            </a:r>
            <a:r>
              <a:rPr sz="850" b="1">
                <a:solidFill>
                  <a:srgbClr val="B9770E"/>
                </a:solidFill>
                <a:latin typeface="Calibri"/>
              </a:rPr>
              <a:t>38d </a:t>
            </a:r>
            <a:r>
              <a:rPr sz="850" b="0">
                <a:solidFill>
                  <a:srgbClr val="23203A"/>
                </a:solidFill>
                <a:latin typeface="Calibri"/>
              </a:rPr>
              <a:t>· Fernandópolis 1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199632" y="384962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199632" y="3872484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309360" y="3866083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11119 </a:t>
            </a:r>
            <a:r>
              <a:rPr sz="850" b="1">
                <a:solidFill>
                  <a:srgbClr val="B9770E"/>
                </a:solidFill>
                <a:latin typeface="Calibri"/>
              </a:rPr>
              <a:t>37d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Marabá 1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8961120" y="384962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961120" y="3872484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070848" y="3866083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11118 </a:t>
            </a:r>
            <a:r>
              <a:rPr sz="850" b="1">
                <a:solidFill>
                  <a:srgbClr val="B9770E"/>
                </a:solidFill>
                <a:latin typeface="Calibri"/>
              </a:rPr>
              <a:t>37d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Marabá 1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199632" y="404164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199632" y="4064508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309360" y="4058107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11444 </a:t>
            </a:r>
            <a:r>
              <a:rPr sz="850" b="1">
                <a:solidFill>
                  <a:srgbClr val="B9770E"/>
                </a:solidFill>
                <a:latin typeface="Calibri"/>
              </a:rPr>
              <a:t>33d </a:t>
            </a:r>
            <a:r>
              <a:rPr sz="850" b="0">
                <a:solidFill>
                  <a:srgbClr val="23203A"/>
                </a:solidFill>
                <a:latin typeface="Calibri"/>
              </a:rPr>
              <a:t>· Santa Maria do Pará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02920" y="3383280"/>
            <a:ext cx="5440680" cy="228600"/>
          </a:xfrm>
          <a:prstGeom prst="roundRect">
            <a:avLst>
              <a:gd name="adj" fmla="val 16000"/>
            </a:avLst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30936" y="3408883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Vitor Valadares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434840" y="3408883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9DB21"/>
                </a:solidFill>
                <a:latin typeface="Calibri"/>
              </a:rPr>
              <a:t>10 OS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502920" y="365760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2920" y="3680460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12648" y="3674059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7103 </a:t>
            </a:r>
            <a:r>
              <a:rPr sz="850" b="1">
                <a:solidFill>
                  <a:srgbClr val="B3261E"/>
                </a:solidFill>
                <a:latin typeface="Calibri"/>
              </a:rPr>
              <a:t>104d </a:t>
            </a:r>
            <a:r>
              <a:rPr sz="850" b="0">
                <a:solidFill>
                  <a:srgbClr val="23203A"/>
                </a:solidFill>
                <a:latin typeface="Calibri"/>
              </a:rPr>
              <a:t>· Petrolina 2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264408" y="365760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264408" y="3680460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374136" y="3674059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7104 </a:t>
            </a:r>
            <a:r>
              <a:rPr sz="850" b="1">
                <a:solidFill>
                  <a:srgbClr val="B3261E"/>
                </a:solidFill>
                <a:latin typeface="Calibri"/>
              </a:rPr>
              <a:t>96d </a:t>
            </a:r>
            <a:r>
              <a:rPr sz="850" b="0">
                <a:solidFill>
                  <a:srgbClr val="23203A"/>
                </a:solidFill>
                <a:latin typeface="Calibri"/>
              </a:rPr>
              <a:t>· Petrolina 3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02920" y="384962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02920" y="3872484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12648" y="3866083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9456 </a:t>
            </a:r>
            <a:r>
              <a:rPr sz="850" b="1">
                <a:solidFill>
                  <a:srgbClr val="B3261E"/>
                </a:solidFill>
                <a:latin typeface="Calibri"/>
              </a:rPr>
              <a:t>67d </a:t>
            </a:r>
            <a:r>
              <a:rPr sz="850" b="0">
                <a:solidFill>
                  <a:srgbClr val="23203A"/>
                </a:solidFill>
                <a:latin typeface="Calibri"/>
              </a:rPr>
              <a:t>· Petrolina 2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264408" y="384962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264408" y="3872484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374136" y="3866083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9865 </a:t>
            </a:r>
            <a:r>
              <a:rPr sz="850" b="1">
                <a:solidFill>
                  <a:srgbClr val="B3261E"/>
                </a:solidFill>
                <a:latin typeface="Calibri"/>
              </a:rPr>
              <a:t>63d </a:t>
            </a:r>
            <a:r>
              <a:rPr sz="850" b="0">
                <a:solidFill>
                  <a:srgbClr val="23203A"/>
                </a:solidFill>
                <a:latin typeface="Calibri"/>
              </a:rPr>
              <a:t>· Vertentes 2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02920" y="404164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02920" y="4064508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12648" y="4058107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9864 </a:t>
            </a:r>
            <a:r>
              <a:rPr sz="850" b="1">
                <a:solidFill>
                  <a:srgbClr val="B3261E"/>
                </a:solidFill>
                <a:latin typeface="Calibri"/>
              </a:rPr>
              <a:t>63d </a:t>
            </a:r>
            <a:r>
              <a:rPr sz="850" b="0">
                <a:solidFill>
                  <a:srgbClr val="23203A"/>
                </a:solidFill>
                <a:latin typeface="Calibri"/>
              </a:rPr>
              <a:t>· Vertentes 2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264408" y="404164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3264408" y="4064508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374136" y="4058107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9863 </a:t>
            </a:r>
            <a:r>
              <a:rPr sz="850" b="1">
                <a:solidFill>
                  <a:srgbClr val="B3261E"/>
                </a:solidFill>
                <a:latin typeface="Calibri"/>
              </a:rPr>
              <a:t>63d </a:t>
            </a:r>
            <a:r>
              <a:rPr sz="850" b="0">
                <a:solidFill>
                  <a:srgbClr val="23203A"/>
                </a:solidFill>
                <a:latin typeface="Calibri"/>
              </a:rPr>
              <a:t>· Vertentes 2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02920" y="4233672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502920" y="4256532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12648" y="4250131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10319 </a:t>
            </a:r>
            <a:r>
              <a:rPr sz="850" b="1">
                <a:solidFill>
                  <a:srgbClr val="B9770E"/>
                </a:solidFill>
                <a:latin typeface="Calibri"/>
              </a:rPr>
              <a:t>41d </a:t>
            </a:r>
            <a:r>
              <a:rPr sz="850" b="0">
                <a:solidFill>
                  <a:srgbClr val="23203A"/>
                </a:solidFill>
                <a:latin typeface="Calibri"/>
              </a:rPr>
              <a:t>· Ibirapuã 1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264408" y="4233672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3264408" y="4256532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374136" y="4250131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11120 </a:t>
            </a:r>
            <a:r>
              <a:rPr sz="850" b="1">
                <a:solidFill>
                  <a:srgbClr val="B9770E"/>
                </a:solidFill>
                <a:latin typeface="Calibri"/>
              </a:rPr>
              <a:t>39d </a:t>
            </a:r>
            <a:r>
              <a:rPr sz="850" b="0">
                <a:solidFill>
                  <a:srgbClr val="23203A"/>
                </a:solidFill>
                <a:latin typeface="Calibri"/>
              </a:rPr>
              <a:t>· Petrolina 2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02920" y="442569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02920" y="4448556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12648" y="4442155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10889 </a:t>
            </a:r>
            <a:r>
              <a:rPr sz="850" b="1">
                <a:solidFill>
                  <a:srgbClr val="B9770E"/>
                </a:solidFill>
                <a:latin typeface="Calibri"/>
              </a:rPr>
              <a:t>36d </a:t>
            </a:r>
            <a:r>
              <a:rPr sz="850" b="0">
                <a:solidFill>
                  <a:srgbClr val="23203A"/>
                </a:solidFill>
                <a:latin typeface="Calibri"/>
              </a:rPr>
              <a:t>· Vertentes 2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264408" y="442569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3264408" y="4448556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374136" y="4442155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10322 </a:t>
            </a:r>
            <a:r>
              <a:rPr sz="850" b="1">
                <a:solidFill>
                  <a:srgbClr val="B9770E"/>
                </a:solidFill>
                <a:latin typeface="Calibri"/>
              </a:rPr>
              <a:t>31d </a:t>
            </a:r>
            <a:r>
              <a:rPr sz="850" b="0">
                <a:solidFill>
                  <a:srgbClr val="23203A"/>
                </a:solidFill>
                <a:latin typeface="Calibri"/>
              </a:rPr>
              <a:t>· Ibirapuã 2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6199632" y="4288536"/>
            <a:ext cx="5440680" cy="228600"/>
          </a:xfrm>
          <a:prstGeom prst="roundRect">
            <a:avLst>
              <a:gd name="adj" fmla="val 16000"/>
            </a:avLst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327648" y="4314139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Danuth Fernandes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131552" y="4314139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9DB21"/>
                </a:solidFill>
                <a:latin typeface="Calibri"/>
              </a:rPr>
              <a:t>8 OS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6199632" y="456285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6199632" y="4585716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309360" y="4579315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8401 </a:t>
            </a:r>
            <a:r>
              <a:rPr sz="850" b="1">
                <a:solidFill>
                  <a:srgbClr val="B3261E"/>
                </a:solidFill>
                <a:latin typeface="Calibri"/>
              </a:rPr>
              <a:t>81d </a:t>
            </a:r>
            <a:r>
              <a:rPr sz="850" b="0">
                <a:solidFill>
                  <a:srgbClr val="23203A"/>
                </a:solidFill>
                <a:latin typeface="Calibri"/>
              </a:rPr>
              <a:t>· Araçoiaba da Serra 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8961120" y="456285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961120" y="4585716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9070848" y="4579315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10157 </a:t>
            </a:r>
            <a:r>
              <a:rPr sz="850" b="1">
                <a:solidFill>
                  <a:srgbClr val="B9770E"/>
                </a:solidFill>
                <a:latin typeface="Calibri"/>
              </a:rPr>
              <a:t>55d </a:t>
            </a:r>
            <a:r>
              <a:rPr sz="850" b="0">
                <a:solidFill>
                  <a:srgbClr val="23203A"/>
                </a:solidFill>
                <a:latin typeface="Calibri"/>
              </a:rPr>
              <a:t>· Piracicaba 1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6199632" y="475488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199632" y="4777740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309360" y="4771339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10460 </a:t>
            </a:r>
            <a:r>
              <a:rPr sz="850" b="1">
                <a:solidFill>
                  <a:srgbClr val="B9770E"/>
                </a:solidFill>
                <a:latin typeface="Calibri"/>
              </a:rPr>
              <a:t>48d </a:t>
            </a:r>
            <a:r>
              <a:rPr sz="850" b="0">
                <a:solidFill>
                  <a:srgbClr val="23203A"/>
                </a:solidFill>
                <a:latin typeface="Calibri"/>
              </a:rPr>
              <a:t>· Embu Guaçu 1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8961120" y="475488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961120" y="4777740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9070848" y="4771339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10189 </a:t>
            </a:r>
            <a:r>
              <a:rPr sz="850" b="1">
                <a:solidFill>
                  <a:srgbClr val="B9770E"/>
                </a:solidFill>
                <a:latin typeface="Calibri"/>
              </a:rPr>
              <a:t>48d </a:t>
            </a:r>
            <a:r>
              <a:rPr sz="850" b="0">
                <a:solidFill>
                  <a:srgbClr val="23203A"/>
                </a:solidFill>
                <a:latin typeface="Calibri"/>
              </a:rPr>
              <a:t>· Araçoiaba da Serra 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6199632" y="494690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199632" y="4969764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309360" y="4963363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10636 </a:t>
            </a:r>
            <a:r>
              <a:rPr sz="850" b="1">
                <a:solidFill>
                  <a:srgbClr val="B9770E"/>
                </a:solidFill>
                <a:latin typeface="Calibri"/>
              </a:rPr>
              <a:t>46d </a:t>
            </a:r>
            <a:r>
              <a:rPr sz="850" b="0">
                <a:solidFill>
                  <a:srgbClr val="23203A"/>
                </a:solidFill>
                <a:latin typeface="Calibri"/>
              </a:rPr>
              <a:t>· Araçoiaba da Serra 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8961120" y="494690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961120" y="4969764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9070848" y="4963363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10635 </a:t>
            </a:r>
            <a:r>
              <a:rPr sz="850" b="1">
                <a:solidFill>
                  <a:srgbClr val="B9770E"/>
                </a:solidFill>
                <a:latin typeface="Calibri"/>
              </a:rPr>
              <a:t>46d </a:t>
            </a:r>
            <a:r>
              <a:rPr sz="850" b="0">
                <a:solidFill>
                  <a:srgbClr val="23203A"/>
                </a:solidFill>
                <a:latin typeface="Calibri"/>
              </a:rPr>
              <a:t>· Araçoiaba da Serra 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6199632" y="513892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6199632" y="5161788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309360" y="5155387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11318 </a:t>
            </a:r>
            <a:r>
              <a:rPr sz="850" b="1">
                <a:solidFill>
                  <a:srgbClr val="B9770E"/>
                </a:solidFill>
                <a:latin typeface="Calibri"/>
              </a:rPr>
              <a:t>34d </a:t>
            </a:r>
            <a:r>
              <a:rPr sz="850" b="0">
                <a:solidFill>
                  <a:srgbClr val="23203A"/>
                </a:solidFill>
                <a:latin typeface="Calibri"/>
              </a:rPr>
              <a:t>· Fazenda Limão 1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8961120" y="513892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8961120" y="5161788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9070848" y="5155387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11156 </a:t>
            </a:r>
            <a:r>
              <a:rPr sz="850" b="1">
                <a:solidFill>
                  <a:srgbClr val="B9770E"/>
                </a:solidFill>
                <a:latin typeface="Calibri"/>
              </a:rPr>
              <a:t>34d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Caxambu 1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502920" y="4672584"/>
            <a:ext cx="5440680" cy="228600"/>
          </a:xfrm>
          <a:prstGeom prst="roundRect">
            <a:avLst>
              <a:gd name="adj" fmla="val 16000"/>
            </a:avLst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30936" y="4698187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Sem cluster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434840" y="4698187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9DB21"/>
                </a:solidFill>
                <a:latin typeface="Calibri"/>
              </a:rPr>
              <a:t>7 OS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502920" y="494690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02920" y="4969764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12648" y="4963363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8859 </a:t>
            </a:r>
            <a:r>
              <a:rPr sz="850" b="1">
                <a:solidFill>
                  <a:srgbClr val="B3261E"/>
                </a:solidFill>
                <a:latin typeface="Calibri"/>
              </a:rPr>
              <a:t>79d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Marabá 2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3264408" y="494690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3264408" y="4969764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3374136" y="4963363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8858 </a:t>
            </a:r>
            <a:r>
              <a:rPr sz="850" b="1">
                <a:solidFill>
                  <a:srgbClr val="B3261E"/>
                </a:solidFill>
                <a:latin typeface="Calibri"/>
              </a:rPr>
              <a:t>79d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Marabá 2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502920" y="513892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02920" y="5161788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612648" y="5155387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8853 </a:t>
            </a:r>
            <a:r>
              <a:rPr sz="850" b="1">
                <a:solidFill>
                  <a:srgbClr val="B3261E"/>
                </a:solidFill>
                <a:latin typeface="Calibri"/>
              </a:rPr>
              <a:t>79d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Marabá 2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3264408" y="513892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3264408" y="5161788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3374136" y="5155387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8852 </a:t>
            </a:r>
            <a:r>
              <a:rPr sz="850" b="1">
                <a:solidFill>
                  <a:srgbClr val="B3261E"/>
                </a:solidFill>
                <a:latin typeface="Calibri"/>
              </a:rPr>
              <a:t>79d </a:t>
            </a:r>
            <a:r>
              <a:rPr sz="850" b="0">
                <a:solidFill>
                  <a:srgbClr val="23203A"/>
                </a:solidFill>
                <a:latin typeface="Calibri"/>
              </a:rPr>
              <a:t>· Marabá 2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502920" y="5330952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502920" y="5353812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612648" y="5347411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9718 </a:t>
            </a:r>
            <a:r>
              <a:rPr sz="850" b="1">
                <a:solidFill>
                  <a:srgbClr val="B3261E"/>
                </a:solidFill>
                <a:latin typeface="Calibri"/>
              </a:rPr>
              <a:t>62d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Guajirú 1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3264408" y="5330952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3264408" y="5353812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3374136" y="5347411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9717 </a:t>
            </a:r>
            <a:r>
              <a:rPr sz="850" b="1">
                <a:solidFill>
                  <a:srgbClr val="B3261E"/>
                </a:solidFill>
                <a:latin typeface="Calibri"/>
              </a:rPr>
              <a:t>62d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Guajirú 1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502920" y="552297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02920" y="5545836"/>
            <a:ext cx="41148" cy="123444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612648" y="5539435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11185 </a:t>
            </a:r>
            <a:r>
              <a:rPr sz="850" b="1">
                <a:solidFill>
                  <a:srgbClr val="B9770E"/>
                </a:solidFill>
                <a:latin typeface="Calibri"/>
              </a:rPr>
              <a:t>34d </a:t>
            </a:r>
            <a:r>
              <a:rPr sz="850" b="0">
                <a:solidFill>
                  <a:srgbClr val="23203A"/>
                </a:solidFill>
                <a:latin typeface="Calibri"/>
              </a:rPr>
              <a:t>· Poconé 1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6199632" y="5385816"/>
            <a:ext cx="5440680" cy="228600"/>
          </a:xfrm>
          <a:prstGeom prst="roundRect">
            <a:avLst>
              <a:gd name="adj" fmla="val 16000"/>
            </a:avLst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6327648" y="5411419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Marcelo Martineli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0131552" y="5411419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9DB21"/>
                </a:solidFill>
                <a:latin typeface="Calibri"/>
              </a:rPr>
              <a:t>3 OS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6199632" y="566013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6199632" y="5682996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6309360" y="5676595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8796 </a:t>
            </a:r>
            <a:r>
              <a:rPr sz="850" b="1">
                <a:solidFill>
                  <a:srgbClr val="B3261E"/>
                </a:solidFill>
                <a:latin typeface="Calibri"/>
              </a:rPr>
              <a:t>79d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Cedro 1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8961120" y="566013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8961120" y="5682996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9070848" y="5676595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8799 </a:t>
            </a:r>
            <a:r>
              <a:rPr sz="850" b="1">
                <a:solidFill>
                  <a:srgbClr val="B3261E"/>
                </a:solidFill>
                <a:latin typeface="Calibri"/>
              </a:rPr>
              <a:t>75d </a:t>
            </a:r>
            <a:r>
              <a:rPr sz="850" b="0">
                <a:solidFill>
                  <a:srgbClr val="23203A"/>
                </a:solidFill>
                <a:latin typeface="Calibri"/>
              </a:rPr>
              <a:t>· Cedro 2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6199632" y="585216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199632" y="5875020"/>
            <a:ext cx="41148" cy="12344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6309360" y="5868619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8783 </a:t>
            </a:r>
            <a:r>
              <a:rPr sz="850" b="1">
                <a:solidFill>
                  <a:srgbClr val="B3261E"/>
                </a:solidFill>
                <a:latin typeface="Calibri"/>
              </a:rPr>
              <a:t>62d </a:t>
            </a:r>
            <a:r>
              <a:rPr sz="850" b="0">
                <a:solidFill>
                  <a:srgbClr val="23203A"/>
                </a:solidFill>
                <a:latin typeface="Calibri"/>
              </a:rPr>
              <a:t>· Demerval Lobão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SEMANA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Nossos desafios — o combinado da segunda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39 - 21/09 a 25/09 -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4018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9152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371600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203A"/>
                </a:solidFill>
                <a:latin typeface="Calibri"/>
              </a:rPr>
              <a:t>Fechar a MPM de setembro (100% até 30/09) —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o mês fecha na quarta — foco em RenoGrid, GD Energy e Alves Lima (0–20%) e nas 30 usinas pendentes da Thopen.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8483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534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91528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084832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203A"/>
                </a:solidFill>
                <a:latin typeface="Calibri"/>
              </a:rPr>
              <a:t>Zerar as MPA vencidas mais antigas —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Petrolina 2 (Axis, 104d, Vitor Valadares) — desligamento remarcado para 10/09: confirmar se ocorreu e se os ensaios foram concluídos; Mandaguaçu 1 (81d, Pedro Candido), Cedro 1/2 (79d, Marcelo Martineli) e as 5 da RenoGrid (Muito Crítico, Fred Alexandrino).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9806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666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91528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798064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203A"/>
                </a:solidFill>
                <a:latin typeface="Calibri"/>
              </a:rPr>
              <a:t>Decidir as 6 MPS vencidas da Thopen —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a 6340 fechou — agora a mais antiga é a SPDA de Araçoiaba da Serra 1 (81d, Danuth Fernandes): faz, reprograma ou cancela.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112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79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91528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511296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203A"/>
                </a:solidFill>
                <a:latin typeface="Calibri"/>
              </a:rPr>
              <a:t>Destravar os handovers mais antigos —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Coração 1 e 2 (65d), Colorado 1 (45d) e Diamantino 1 (41d) — plano por usina no slide 9 — e não deixar vencer os desta semana (Canarana 2, Alvares Machado, Assis Chateaubriand).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245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93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91528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24528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203A"/>
                </a:solidFill>
                <a:latin typeface="Calibri"/>
              </a:rPr>
              <a:t>Reduzir o estoque de corretivas +30d —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23 corretivas dentro das 69 OS +30d do slide 10 — começar pelas 9 da Athon (Timon 1: trackers parados há 88d, Pedro Candido); cada supervisor olha o seu bloco e definir dono para as 7 OS "Sem cluster" (Marabá 2, Guajirú 1, Poconé 1) ainda hoje.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9377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00634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91528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937760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203A"/>
                </a:solidFill>
                <a:latin typeface="Calibri"/>
              </a:rPr>
              <a:t>Análise de óleo —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20 OS abertas — atualizar o estágio logístico (enviar / rota / usina / laboratório) na 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65099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71957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91528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5650992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203A"/>
                </a:solidFill>
                <a:latin typeface="Calibri"/>
              </a:rPr>
              <a:t>Fechamento na sexta —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na sexta (25/09) revisamos estes pontos com os dados novos da API — o que fechou, o que ficou.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