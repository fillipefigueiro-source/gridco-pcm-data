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548640" cy="54864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A9DB21"/>
                </a:solidFill>
                <a:latin typeface="Calibri"/>
              </a:rPr>
              <a:t>PCM - REUNIÃO DE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Semana 40: nossos desafios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CBDA"/>
                </a:solidFill>
                <a:latin typeface="Calibri"/>
              </a:rPr>
              <a:t>28 de setembro a 2 de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96AD"/>
                </a:solidFill>
                <a:latin typeface="Calibri"/>
              </a:rPr>
              <a:t>Equipe de PCM - Grid Co. - dados da API Fracttal em 28/09 (R00)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A semana em uma página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590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356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MPM de setembro: 2 dias para fechar: </a:t>
            </a:r>
            <a:r>
              <a:rPr sz="1200" b="0">
                <a:solidFill>
                  <a:srgbClr val="504C63"/>
                </a:solidFill>
                <a:latin typeface="Calibri"/>
              </a:rPr>
              <a:t>69% (920 de 1342 tarefas), o mês fecha na quarta 30/09 (slide 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894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MPM de outubro: </a:t>
            </a:r>
            <a:r>
              <a:rPr sz="1200" b="0">
                <a:solidFill>
                  <a:srgbClr val="504C63"/>
                </a:solidFill>
                <a:latin typeface="Calibri"/>
              </a:rPr>
              <a:t>emitir as preventivas do mês na quinta 01/10 e conferir as usinas novas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290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426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Corretivas: atenção: </a:t>
            </a:r>
            <a:r>
              <a:rPr sz="1200" b="0">
                <a:solidFill>
                  <a:srgbClr val="504C63"/>
                </a:solidFill>
                <a:latin typeface="Calibri"/>
              </a:rPr>
              <a:t>subiram para 119 abertas (eram 102) e 32 com +30 dias; a alta está na Thopen (slide 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27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964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461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MPA vencidas: </a:t>
            </a:r>
            <a:r>
              <a:rPr sz="1200" b="0">
                <a:solidFill>
                  <a:srgbClr val="504C63"/>
                </a:solidFill>
                <a:latin typeface="Calibri"/>
              </a:rPr>
              <a:t>28 OS; Petrolina 2 (Axis) chegou a 111 dias (slide 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31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999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4962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MPS vencidas: </a:t>
            </a:r>
            <a:r>
              <a:rPr sz="1200" b="0">
                <a:solidFill>
                  <a:srgbClr val="504C63"/>
                </a:solidFill>
                <a:latin typeface="Calibri"/>
              </a:rPr>
              <a:t>7 OS, todas Thopen; a mais antiga é a SPDA de Araçoiaba da Serra 1 (88d) (slide 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0342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531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Handover: </a:t>
            </a:r>
            <a:r>
              <a:rPr sz="1200" b="0">
                <a:solidFill>
                  <a:srgbClr val="504C63"/>
                </a:solidFill>
                <a:latin typeface="Calibri"/>
              </a:rPr>
              <a:t>15 OS abertas, todas Thopen; a mais antiga é Coração 1 e 2 (72d) (slide 9)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383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0692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5663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Análise de óleo: </a:t>
            </a:r>
            <a:r>
              <a:rPr sz="1200" b="0">
                <a:solidFill>
                  <a:srgbClr val="504C63"/>
                </a:solidFill>
                <a:latin typeface="Calibri"/>
              </a:rPr>
              <a:t>17 OS abertas; manter a logística enviar / rota / usina / laboratório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41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1042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6013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Ritmo da semana passada: </a:t>
            </a:r>
            <a:r>
              <a:rPr sz="1200" b="0">
                <a:solidFill>
                  <a:srgbClr val="504C63"/>
                </a:solidFill>
                <a:latin typeface="Calibri"/>
              </a:rPr>
              <a:t>S39 foi recorde: 802 OS fechadas; entraram 118 corretivas novas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PORTFÓLIO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Panorama por cliente: onde está o risco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corretivas abertas (eram 102)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MPA/MPS vencidas (eram 35)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MPM de setembro (era 51%)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paradas há +30 dias, todos os tipos (eram 69)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80" cy="3447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783080"/>
                <a:gridCol w="640080"/>
                <a:gridCol w="1234440"/>
                <a:gridCol w="1234440"/>
                <a:gridCol w="914400"/>
                <a:gridCol w="3931920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Corretivas abertas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+30d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MPA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MPS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MPM set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OS aberta mais antiga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83 em 40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13 / 13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7 / 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8466 · Mandaguaçu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88d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17 em 6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8338 · Timon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95d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em 3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7103 · Petrolina 2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111d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em 3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10245 · Colíder 2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44d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Sal Energia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 em 4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11483 · Aquiraz 2 (Carosa)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39d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em 1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8796 · Cedro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86d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 em 2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10149 · Sete Lagoas 2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62d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GD Energy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em 1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9718 · Guajirú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69d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Alves Lima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em 1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12653 · Morada Nova 1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17d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10322 · Ibirapuã 2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38d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Solier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em 1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14266 · Cascavel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6d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Semp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11454 · Tucano 1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37d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Thopen: corretivas subiram, olhar já nesta segunda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corretivas abertas, eram 58 (40 usinas)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com +30 dias (eram 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MPA/MPS vencidas (13 MPA, 7 MPS)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69%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MPM set (568/822 tarefas)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06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03A"/>
                </a:solidFill>
                <a:latin typeface="Calibri"/>
              </a:rPr>
              <a:t>Usinas com mais corretivas abertas: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971800"/>
          <a:ext cx="512064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Usina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Corretivas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Barretos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9 OS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Céu Azul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8 OS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Coração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 OS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989320" y="297180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15468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Avanço: </a:t>
            </a:r>
            <a:r>
              <a:rPr sz="1200" b="1">
                <a:solidFill>
                  <a:srgbClr val="2E7D32"/>
                </a:solidFill>
                <a:latin typeface="Calibri"/>
              </a:rPr>
              <a:t>MPM saltou de 55% para 69% na semana; faltam 254 tarefas em 22 usinas.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91528"/>
                </a:solidFill>
                <a:latin typeface="Calibri"/>
              </a:rPr>
              <a:t>Alerta: </a:t>
            </a:r>
            <a:r>
              <a:rPr sz="1100" b="1">
                <a:solidFill>
                  <a:srgbClr val="B3261E"/>
                </a:solidFill>
                <a:latin typeface="Calibri"/>
              </a:rPr>
              <a:t>corretivas foram de 58 para 83 e as com +30 dias de 8 para 19. </a:t>
            </a:r>
            <a:r>
              <a:rPr sz="1100" b="0">
                <a:solidFill>
                  <a:srgbClr val="504C63"/>
                </a:solidFill>
                <a:latin typeface="Calibri"/>
              </a:rPr>
              <a:t>Mais antiga: OS 8466, Mandaguaçu 1 (MPA Caixa d'água), 88 dias.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00600"/>
            <a:ext cx="11155680" cy="123444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56048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Desafio da semana: </a:t>
            </a:r>
            <a:r>
              <a:rPr sz="1200" b="0">
                <a:solidFill>
                  <a:srgbClr val="23203A"/>
                </a:solidFill>
                <a:latin typeface="Calibri"/>
              </a:rPr>
              <a:t>entender a alta das corretivas (Barretos 1 e Céu Azul 1 lideram) e fechar as 22 usinas de MPM até quarta; decidir as 13 MPA e 7 MPS vencidas e os 15 handovers (slide 9).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Na programação de hoje: separar o que é entrada nova real e o que é OS antiga reclassificada.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Athon e Axis: atenção concentrada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528"/>
                </a:solidFill>
                <a:latin typeface="Calibri"/>
              </a:rPr>
              <a:t>Athon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corretivas abertas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com +30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3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MPM setembro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0040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Semana boa: corretivas caíram de 22 para 17 e as com +30 dias de 9 para 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6557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6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OS 8338, Timon 1: trackers parados há 95 dias (desde 24/06), a mais antiga do cliente.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04487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04487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de setembro em 56%, 6 usinas pendentes até quarta.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9663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69663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A MPA de Mãe do Rio 1 foi concluída; cliente sem MPA aberta.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4983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230368"/>
            <a:ext cx="46817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Desafio da semana: </a:t>
            </a:r>
            <a:r>
              <a:rPr sz="1100" b="0">
                <a:solidFill>
                  <a:srgbClr val="23203A"/>
                </a:solidFill>
                <a:latin typeface="Calibri"/>
              </a:rPr>
              <a:t>fechar as 6 usinas de MPM até 30/09 e resolver a OS 8338 (95 dias).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1732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528"/>
                </a:solidFill>
                <a:latin typeface="Calibri"/>
              </a:rPr>
              <a:t>Axis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corretivas abertas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5592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com +30 dias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84663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4391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63%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4391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MPM setembro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004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20040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Petrolina 2 chegou a 111 dias (desde 08/06); o desligamento remarcado para 10/09 segue sem confirmação de conclusão dos ensaios.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63931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639312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Agora são 6 MPA abertas (5 vencidas): entrou São José do Egito 1 na lista.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904487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904487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de setembro avançou para 63%, 3 usinas pendentes.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69663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169663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Corretivas caíram para 3 abertas em 3 usinas.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5120640"/>
            <a:ext cx="4983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5230368"/>
            <a:ext cx="46817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Desafio da semana: </a:t>
            </a:r>
            <a:r>
              <a:rPr sz="1100" b="0">
                <a:solidFill>
                  <a:srgbClr val="23203A"/>
                </a:solidFill>
                <a:latin typeface="Calibri"/>
              </a:rPr>
              <a:t>fechar o ciclo de Petrolina 2 (111 dias) nesta semana: ensaios concluídos e OS 7103 encerrada.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Demais clientes: um ponto por linha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63624"/>
            <a:ext cx="82296" cy="365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RenoGrid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6184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5 MPA abertas, todas vencidas e Muito Crítico na Gerencial; MPM saiu de 0% para 12%, ainda o pior do portfólio.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75688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30552"/>
            <a:ext cx="82296" cy="365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762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Alves Lima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8541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de setembro em 25% (3 de 12 tarefas em Morada Nova 1); fechar até quarta.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6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82296" cy="3657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GD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523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saltou de 20% para 85%; exaustores do trafo de Guajirú seguem abertos há 69 dias.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9544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64408"/>
            <a:ext cx="82296" cy="3657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101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Sal Energia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31927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saltou de 44% para 85%; reparo de estruturas de Aquiraz 2 chegou a 39 dias.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31335"/>
            <a:ext cx="82296" cy="3657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770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Greenyellow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88620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em 94%; seguem as 3 MPA vencidas, Cedro 1 com 86 dias.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4340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398264"/>
            <a:ext cx="82296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4398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2C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531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fechou em 100%; pendem o chamado STI de Sete Lagoas 2 (62d) e a MPA de Tupi Paulista (19d).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10328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965192"/>
            <a:ext cx="82296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109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Ultragaz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02005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100% e sem corretivas; a MPA de RSU de Ibirapuã 1 fechou, resta a Estação Solarimétrica de Ibirapuã 2 (38d).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77256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532120"/>
            <a:ext cx="82296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Semp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58698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100% e sem corretivas; análise do descasamento de Tucano 1 chegou a 37 dias.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PREVENTIVA MENSAL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MPM de setembro: 2 dias para fechar, 69% feito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69%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920 de 1342 tarefas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7D3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clientes em 100%: 2C · Ultragaz · Semp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abaixo de 40%: RenoGrid · Alves Lima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91528"/>
                </a:solidFill>
                <a:latin typeface="Calibri"/>
              </a:rPr>
              <a:t>422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tarefas para fechar 100% até quarta 30/09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005840"/>
                <a:gridCol w="731520"/>
                <a:gridCol w="1097280"/>
                <a:gridCol w="676656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Feitas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Usinas pend.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Onde falta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4/34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Colíder 2, Elias Fausto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Alves Lima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3/12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Morada Nova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114/205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Timon 1, Timon 2, Jacundá 1, Marabá 1 +2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38/60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Linhares 1, Marialva 1, Petrolina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568/822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Altair 1, Aparecida do Taboado 1 e 2, Araçoiaba da Serra 2… +18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Sal Energia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53/62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Aquiraz 1 (Salvales), Cascavel 1 (Sunpower), Quixadá 1 (Hortina)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GD Energy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35/41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Sol do Norte 1, Sol do Norte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17/18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Castelo do Piauí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44/44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29/29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Semp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15/15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61173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1528"/>
                </a:solidFill>
                <a:latin typeface="Calibri"/>
              </a:rPr>
              <a:t>Teste de ritmo: </a:t>
            </a:r>
            <a:r>
              <a:rPr sz="1000" b="0">
                <a:solidFill>
                  <a:srgbClr val="504C63"/>
                </a:solidFill>
                <a:latin typeface="Calibri"/>
              </a:rPr>
              <a:t>422 tarefas em 2 dias úteis dá ~211/dia, o triplo do ritmo normal: decidir HOJE o que fecha até quarta e o que será justificado; quinta 01/10 começa a emissão da MPM de outubro.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ANUAIS E SEMESTRAIS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MPA e MPS: abertas e vencidas por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MPA abertas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 já vencidas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MPS abertas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MPS vencidas (todas Thopen)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9572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1528"/>
                </a:solidFill>
                <a:latin typeface="Calibri"/>
              </a:rPr>
              <a:t>MPS: </a:t>
            </a:r>
            <a:r>
              <a:rPr sz="1000" b="0">
                <a:solidFill>
                  <a:srgbClr val="504C63"/>
                </a:solidFill>
                <a:latin typeface="Calibri"/>
              </a:rPr>
              <a:t>7 abertas / 7 vencidas, todas Thopen; mais antiga OS 8401 · Araçoiaba da Serra 1 · 88d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606040"/>
          <a:ext cx="1115568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960120"/>
                <a:gridCol w="2011680"/>
                <a:gridCol w="1737360"/>
                <a:gridCol w="1051560"/>
                <a:gridCol w="42062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MPA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MPA mais antiga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Criticidade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Observações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13 / 13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OS 8466 · Mandaguaçu 1 · 88d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Araçoiaba da Serra 1, Araçoiaba da… +16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Mandaguaçu 1: 25/08/2026: Auxílio na semana do dia 24/08 foi inviabilizado pela Thopen, e será…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6 / 5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OS 7103 · Petrolina 2 · 111d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Marialva 1, Petrolina 2 +2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Petrolina 2: 01/09/2026: Desligamento remarcado para o dia 10/09/2026, feito pelo Caio da Axis.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OS 10245 · Colíder 2 · 44d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Colíder 2, Crateús 1 +3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Muito Crítico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Colíder 2: 01/09/2026: Adriano apresentou problemas relacionados à mobilização de ônibus.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OS 8796 · Cedro 1 · 86d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Cedro 1, Cedro 2 +1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Cedro 1: 25/08/2026: Foi feita eunião de alinhamento com o técnico Leonardo Dias dia 20/08…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OS 13184 · Tupi Paulista 1  · 19d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Tupi Paulista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OS 10322 · Ibirapuã 2 · 38d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Ibirapuã 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Ibirapuã 2: 25/08/2026: MPA em execução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297680" y="6473952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04C63"/>
                </a:solidFill>
                <a:latin typeface="Calibri"/>
              </a:rPr>
              <a:t>Criticidade e observações: Gerencial - PCM_2026_R00, aba MPAS (usina mais crítica de cada cliente) · 28/09.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Handover: pendências de entrada de usina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handover abertas (todas Thopen)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91528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usinas com handover aberto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já passaram da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72d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a mais antiga (Coração 1 e 2)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79" cy="3653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234440"/>
                <a:gridCol w="777240"/>
                <a:gridCol w="3749039"/>
                <a:gridCol w="1097280"/>
                <a:gridCol w="1645920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Usina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Tarefas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Escopo mais antigo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Programada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Coração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9534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PPCI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B3261E"/>
                          </a:solidFill>
                          <a:latin typeface="Calibri"/>
                        </a:rPr>
                        <a:t>72d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Colorado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10607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06/08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B3261E"/>
                          </a:solidFill>
                          <a:latin typeface="Calibri"/>
                        </a:rPr>
                        <a:t>52d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Diamantino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10971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INFRAESTRUTURA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10/08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B3261E"/>
                          </a:solidFill>
                          <a:latin typeface="Calibri"/>
                        </a:rPr>
                        <a:t>48d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Guatambú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10829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Sistema de Supervisório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12/08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B3261E"/>
                          </a:solidFill>
                          <a:latin typeface="Calibri"/>
                        </a:rPr>
                        <a:t>46d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Caicó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11557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PPCI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25/08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33d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Santo Antônio da Platina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12876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Ar Condicionado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Santo Antônio da Platina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12876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Sistema de Supervisório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19d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Rodrigues 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12996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Sistema de Supervisório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09/09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18d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14/09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13d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Canarana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13623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Trackers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15/09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15/09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Cipó Guaçu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13633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FOSSA SEPTICA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16/09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11d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10d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Canarana 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13624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21/09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6d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Alvares Machado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13758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22/09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5d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Assis Chateaubriand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13835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24/09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297680" y="6473952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04C63"/>
                </a:solidFill>
                <a:latin typeface="Calibri"/>
              </a:rPr>
              <a:t>OS 12876 atende duas classificações de Santo Antônio da Platina: 16 linhas para 15 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O estoque antigo por supervisor: 78 OS há +30 dias (32 corretivas)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40680" cy="219456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348739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Pedro Candido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34873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23 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9105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1117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60477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8338 </a:t>
            </a:r>
            <a:r>
              <a:rPr sz="850" b="1">
                <a:solidFill>
                  <a:srgbClr val="B3261E"/>
                </a:solidFill>
                <a:latin typeface="Calibri"/>
              </a:rPr>
              <a:t>95d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Timon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59105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61117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60477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8466 </a:t>
            </a:r>
            <a:r>
              <a:rPr sz="850" b="1">
                <a:solidFill>
                  <a:srgbClr val="B3261E"/>
                </a:solidFill>
                <a:latin typeface="Calibri"/>
              </a:rPr>
              <a:t>88d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77210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792224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78582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8830 </a:t>
            </a:r>
            <a:r>
              <a:rPr sz="850" b="1">
                <a:solidFill>
                  <a:srgbClr val="B3261E"/>
                </a:solidFill>
                <a:latin typeface="Calibri"/>
              </a:rPr>
              <a:t>87d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Timon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4408" y="177210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792224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178582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9442 </a:t>
            </a:r>
            <a:r>
              <a:rPr sz="850" b="1">
                <a:solidFill>
                  <a:srgbClr val="B3261E"/>
                </a:solidFill>
                <a:latin typeface="Calibri"/>
              </a:rPr>
              <a:t>75d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Marialva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195315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973275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196687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9489 </a:t>
            </a:r>
            <a:r>
              <a:rPr sz="850" b="1">
                <a:solidFill>
                  <a:srgbClr val="B3261E"/>
                </a:solidFill>
                <a:latin typeface="Calibri"/>
              </a:rPr>
              <a:t>74d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Céu Azul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4408" y="195315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64408" y="1973275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6" y="196687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9602 </a:t>
            </a:r>
            <a:r>
              <a:rPr sz="850" b="1">
                <a:solidFill>
                  <a:srgbClr val="B3261E"/>
                </a:solidFill>
                <a:latin typeface="Calibri"/>
              </a:rPr>
              <a:t>69d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13420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154326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4792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9915 </a:t>
            </a:r>
            <a:r>
              <a:rPr sz="850" b="1">
                <a:solidFill>
                  <a:srgbClr val="B3261E"/>
                </a:solidFill>
                <a:latin typeface="Calibri"/>
              </a:rPr>
              <a:t>66d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4408" y="213420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64408" y="2154326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214792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10185 </a:t>
            </a:r>
            <a:r>
              <a:rPr sz="850" b="1">
                <a:solidFill>
                  <a:srgbClr val="B9770E"/>
                </a:solidFill>
                <a:latin typeface="Calibri"/>
              </a:rPr>
              <a:t>55d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Cidade Gaúcha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231526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2335377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232897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10790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64408" y="231526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2335377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74136" y="232897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11016 </a:t>
            </a:r>
            <a:r>
              <a:rPr sz="850" b="1">
                <a:solidFill>
                  <a:srgbClr val="B9770E"/>
                </a:solidFill>
                <a:latin typeface="Calibri"/>
              </a:rPr>
              <a:t>46d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Guatambú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2496312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2516428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2510028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10169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Santarém 1 e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64408" y="2496312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64408" y="2516428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4136" y="2510028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11524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Matões 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2677363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2697479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" y="2691079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11791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Coração 1 e 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64408" y="2677363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64408" y="2697479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4136" y="2691079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11790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Coração 1 e 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58414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2878531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" y="2872130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11789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Coração 1 e 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64408" y="2858414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64408" y="2878531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74136" y="2872130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11788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Coração 1 e 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3039465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3059582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053181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11775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Céu Azul 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64408" y="3039465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64408" y="3059582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74136" y="3053181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11774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Céu Azul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322051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3240633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" y="323423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11773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Céu Azul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64408" y="322051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64408" y="3240633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74136" y="323423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11772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Céu Azul 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340156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2920" y="342168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2648" y="341528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11771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Céu Azul 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64408" y="340156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64408" y="342168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74136" y="341528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11784 </a:t>
            </a:r>
            <a:r>
              <a:rPr sz="850" b="1">
                <a:solidFill>
                  <a:srgbClr val="B9770E"/>
                </a:solidFill>
                <a:latin typeface="Calibri"/>
              </a:rPr>
              <a:t>33d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Colorado 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2920" y="358261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2920" y="3602736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" y="359633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12311 </a:t>
            </a:r>
            <a:r>
              <a:rPr sz="850" b="1">
                <a:solidFill>
                  <a:srgbClr val="B9770E"/>
                </a:solidFill>
                <a:latin typeface="Calibri"/>
              </a:rPr>
              <a:t>31d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Timon 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99632" y="1325880"/>
            <a:ext cx="5440680" cy="219456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27648" y="1348739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Fred Alexandrino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31552" y="134873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17 OS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99632" y="159105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9632" y="161117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09360" y="160477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8626 </a:t>
            </a:r>
            <a:r>
              <a:rPr sz="850" b="1">
                <a:solidFill>
                  <a:srgbClr val="B3261E"/>
                </a:solidFill>
                <a:latin typeface="Calibri"/>
              </a:rPr>
              <a:t>80d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Topázio (Matão 2)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61120" y="159105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61120" y="161117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70848" y="160477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9723 </a:t>
            </a:r>
            <a:r>
              <a:rPr sz="850" b="1">
                <a:solidFill>
                  <a:srgbClr val="B3261E"/>
                </a:solidFill>
                <a:latin typeface="Calibri"/>
              </a:rPr>
              <a:t>69d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Topázio (Matão 2)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99632" y="177210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99632" y="1792224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0" y="178582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10016 </a:t>
            </a:r>
            <a:r>
              <a:rPr sz="850" b="1">
                <a:solidFill>
                  <a:srgbClr val="B3261E"/>
                </a:solidFill>
                <a:latin typeface="Calibri"/>
              </a:rPr>
              <a:t>65d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Boa Esperança do Su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61120" y="177210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961120" y="1792224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70848" y="178582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10149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Sete Lagoas 2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99632" y="195315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9632" y="1973275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09360" y="196687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10297 </a:t>
            </a:r>
            <a:r>
              <a:rPr sz="850" b="1">
                <a:solidFill>
                  <a:srgbClr val="B9770E"/>
                </a:solidFill>
                <a:latin typeface="Calibri"/>
              </a:rPr>
              <a:t>60d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Araputanga 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961120" y="195315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961120" y="1973275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70848" y="196687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10245 </a:t>
            </a:r>
            <a:r>
              <a:rPr sz="850" b="1">
                <a:solidFill>
                  <a:srgbClr val="B9770E"/>
                </a:solidFill>
                <a:latin typeface="Calibri"/>
              </a:rPr>
              <a:t>44d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Colíder 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99632" y="213420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9632" y="2154326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09360" y="214792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11483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Aquiraz 2 (Carosa)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961120" y="213420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61120" y="2154326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70848" y="214792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11482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Aquiraz 1 (Salvales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99632" y="231526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99632" y="2335377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309360" y="232897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11512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Crateús 1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61120" y="231526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961120" y="2335377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70848" y="232897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12153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Nova Xavantina 2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99632" y="2496312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199632" y="2516428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09360" y="2510028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12152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Nova Xavantina 2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961120" y="2496312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961120" y="2516428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70848" y="2510028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12149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Nova Xavantina 2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199632" y="2677363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9632" y="2697479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09360" y="2691079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12066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Aquiraz 2 (Carosa)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961120" y="2677363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961120" y="2697479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070848" y="2691079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12065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Aquiraz 1 (Salvales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199632" y="2858414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199632" y="2878531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09360" y="2872130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12290 </a:t>
            </a:r>
            <a:r>
              <a:rPr sz="850" b="1">
                <a:solidFill>
                  <a:srgbClr val="B9770E"/>
                </a:solidFill>
                <a:latin typeface="Calibri"/>
              </a:rPr>
              <a:t>31d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Nova Xavantina 2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961120" y="2858414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961120" y="2878531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070848" y="2872130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12289 </a:t>
            </a:r>
            <a:r>
              <a:rPr sz="850" b="1">
                <a:solidFill>
                  <a:srgbClr val="B9770E"/>
                </a:solidFill>
                <a:latin typeface="Calibri"/>
              </a:rPr>
              <a:t>31d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Nova Xavantina 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199632" y="3039465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99632" y="3059582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09360" y="3053181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12064 </a:t>
            </a:r>
            <a:r>
              <a:rPr sz="850" b="1">
                <a:solidFill>
                  <a:srgbClr val="B9770E"/>
                </a:solidFill>
                <a:latin typeface="Calibri"/>
              </a:rPr>
              <a:t>31d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Cascavel 1 (Sunpowe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199632" y="3266236"/>
            <a:ext cx="5440680" cy="219456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327648" y="32890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Vitor Valadares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31552" y="328909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11 OS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99632" y="3531412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199632" y="3551529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09360" y="3545128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7103 </a:t>
            </a:r>
            <a:r>
              <a:rPr sz="850" b="1">
                <a:solidFill>
                  <a:srgbClr val="B3261E"/>
                </a:solidFill>
                <a:latin typeface="Calibri"/>
              </a:rPr>
              <a:t>111d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2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961120" y="3531412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961120" y="3551529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070848" y="3545128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7104 </a:t>
            </a:r>
            <a:r>
              <a:rPr sz="850" b="1">
                <a:solidFill>
                  <a:srgbClr val="B3261E"/>
                </a:solidFill>
                <a:latin typeface="Calibri"/>
              </a:rPr>
              <a:t>103d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3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199632" y="3712463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199632" y="3732580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309360" y="3726179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9456 </a:t>
            </a:r>
            <a:r>
              <a:rPr sz="850" b="1">
                <a:solidFill>
                  <a:srgbClr val="B3261E"/>
                </a:solidFill>
                <a:latin typeface="Calibri"/>
              </a:rPr>
              <a:t>74d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961120" y="3712463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61120" y="3732580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070848" y="3726179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9865 </a:t>
            </a:r>
            <a:r>
              <a:rPr sz="850" b="1">
                <a:solidFill>
                  <a:srgbClr val="B3261E"/>
                </a:solidFill>
                <a:latin typeface="Calibri"/>
              </a:rPr>
              <a:t>70d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199632" y="3893515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199632" y="391363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309360" y="3907231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9864 </a:t>
            </a:r>
            <a:r>
              <a:rPr sz="850" b="1">
                <a:solidFill>
                  <a:srgbClr val="B3261E"/>
                </a:solidFill>
                <a:latin typeface="Calibri"/>
              </a:rPr>
              <a:t>70d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961120" y="3893515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61120" y="391363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70848" y="3907231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9863 </a:t>
            </a:r>
            <a:r>
              <a:rPr sz="850" b="1">
                <a:solidFill>
                  <a:srgbClr val="B3261E"/>
                </a:solidFill>
                <a:latin typeface="Calibri"/>
              </a:rPr>
              <a:t>70d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199632" y="407456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99632" y="4094683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09360" y="408828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11120 </a:t>
            </a:r>
            <a:r>
              <a:rPr sz="850" b="1">
                <a:solidFill>
                  <a:srgbClr val="B9770E"/>
                </a:solidFill>
                <a:latin typeface="Calibri"/>
              </a:rPr>
              <a:t>46d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2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961120" y="407456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61120" y="4094683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070848" y="408828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10889 </a:t>
            </a:r>
            <a:r>
              <a:rPr sz="850" b="1">
                <a:solidFill>
                  <a:srgbClr val="B9770E"/>
                </a:solidFill>
                <a:latin typeface="Calibri"/>
              </a:rPr>
              <a:t>43d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199632" y="425561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199632" y="427573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09360" y="426933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10322 </a:t>
            </a:r>
            <a:r>
              <a:rPr sz="850" b="1">
                <a:solidFill>
                  <a:srgbClr val="B9770E"/>
                </a:solidFill>
                <a:latin typeface="Calibri"/>
              </a:rPr>
              <a:t>38d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Ibirapuã 2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961120" y="425561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61120" y="427573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070848" y="426933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11454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Tucano 1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199632" y="443666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199632" y="4456785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309360" y="445038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12316 </a:t>
            </a:r>
            <a:r>
              <a:rPr sz="850" b="1">
                <a:solidFill>
                  <a:srgbClr val="B9770E"/>
                </a:solidFill>
                <a:latin typeface="Calibri"/>
              </a:rPr>
              <a:t>31d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3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02920" y="3809390"/>
            <a:ext cx="5440680" cy="219456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0936" y="383225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Camila Viana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434840" y="383225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10 OS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02920" y="407456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02920" y="4094683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12648" y="408828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9058 </a:t>
            </a:r>
            <a:r>
              <a:rPr sz="850" b="1">
                <a:solidFill>
                  <a:srgbClr val="B3261E"/>
                </a:solidFill>
                <a:latin typeface="Calibri"/>
              </a:rPr>
              <a:t>74d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1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264408" y="407456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264408" y="4094683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374136" y="408828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10195 </a:t>
            </a:r>
            <a:r>
              <a:rPr sz="850" b="1">
                <a:solidFill>
                  <a:srgbClr val="B9770E"/>
                </a:solidFill>
                <a:latin typeface="Calibri"/>
              </a:rPr>
              <a:t>60d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1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02920" y="425561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502920" y="427573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12648" y="426933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11503 </a:t>
            </a:r>
            <a:r>
              <a:rPr sz="850" b="1">
                <a:solidFill>
                  <a:srgbClr val="B9770E"/>
                </a:solidFill>
                <a:latin typeface="Calibri"/>
              </a:rPr>
              <a:t>52d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Aparecida do Taboad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264408" y="425561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264408" y="427573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374136" y="426933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10861 </a:t>
            </a:r>
            <a:r>
              <a:rPr sz="850" b="1">
                <a:solidFill>
                  <a:srgbClr val="B9770E"/>
                </a:solidFill>
                <a:latin typeface="Calibri"/>
              </a:rPr>
              <a:t>46d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Aparecida do Taboad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02920" y="443666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02920" y="4456785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12648" y="445038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10885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Brodowski 1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3264408" y="443666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264408" y="4456785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374136" y="445038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10810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Tanabi 1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02920" y="461772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02920" y="4637836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12648" y="463143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10809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Fernandópolis 1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264408" y="461772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3264408" y="4637836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374136" y="463143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12193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02920" y="4798771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2920" y="4818888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12648" y="4812487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12192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264408" y="4798771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3264408" y="4818888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374136" y="4812487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11520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Tanabi 1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199632" y="4663440"/>
            <a:ext cx="5440680" cy="219456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327648" y="468630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Danuth Fernandes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131552" y="468630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7 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6199632" y="492861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199632" y="494873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309360" y="494233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8401 </a:t>
            </a:r>
            <a:r>
              <a:rPr sz="850" b="1">
                <a:solidFill>
                  <a:srgbClr val="B3261E"/>
                </a:solidFill>
                <a:latin typeface="Calibri"/>
              </a:rPr>
              <a:t>88d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961120" y="492861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961120" y="4948732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070848" y="494233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10157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Piracicaba 1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6199632" y="510966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9632" y="512978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309360" y="512338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10189 </a:t>
            </a:r>
            <a:r>
              <a:rPr sz="850" b="1">
                <a:solidFill>
                  <a:srgbClr val="B9770E"/>
                </a:solidFill>
                <a:latin typeface="Calibri"/>
              </a:rPr>
              <a:t>55d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961120" y="5109667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961120" y="5129784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070848" y="5123383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10636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199632" y="529071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199632" y="5310835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309360" y="530443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10635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8961120" y="529071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961120" y="5310835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070848" y="530443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11318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Fazenda Limão 1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199632" y="547176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199632" y="5491886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09360" y="548548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11358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Piracicaba 1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502920" y="5025542"/>
            <a:ext cx="5440680" cy="219456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30936" y="504840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Sem cluster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434840" y="504840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7 OS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502920" y="529071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02920" y="5310835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12648" y="530443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8859 </a:t>
            </a:r>
            <a:r>
              <a:rPr sz="850" b="1">
                <a:solidFill>
                  <a:srgbClr val="B3261E"/>
                </a:solidFill>
                <a:latin typeface="Calibri"/>
              </a:rPr>
              <a:t>86d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264408" y="529071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3264408" y="5310835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3374136" y="530443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8858 </a:t>
            </a:r>
            <a:r>
              <a:rPr sz="850" b="1">
                <a:solidFill>
                  <a:srgbClr val="B3261E"/>
                </a:solidFill>
                <a:latin typeface="Calibri"/>
              </a:rPr>
              <a:t>86d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502920" y="547176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02920" y="5491886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12648" y="548548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8853 </a:t>
            </a:r>
            <a:r>
              <a:rPr sz="850" b="1">
                <a:solidFill>
                  <a:srgbClr val="B3261E"/>
                </a:solidFill>
                <a:latin typeface="Calibri"/>
              </a:rPr>
              <a:t>86d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3264408" y="5471769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3264408" y="5491886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374136" y="5485485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8852 </a:t>
            </a:r>
            <a:r>
              <a:rPr sz="850" b="1">
                <a:solidFill>
                  <a:srgbClr val="B3261E"/>
                </a:solidFill>
                <a:latin typeface="Calibri"/>
              </a:rPr>
              <a:t>86d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02920" y="565282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02920" y="5672937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12648" y="566653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9718 </a:t>
            </a:r>
            <a:r>
              <a:rPr sz="850" b="1">
                <a:solidFill>
                  <a:srgbClr val="B3261E"/>
                </a:solidFill>
                <a:latin typeface="Calibri"/>
              </a:rPr>
              <a:t>69d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Guajirú 1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264408" y="5652820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3264408" y="5672937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3374136" y="5666536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9717 </a:t>
            </a:r>
            <a:r>
              <a:rPr sz="850" b="1">
                <a:solidFill>
                  <a:srgbClr val="B3261E"/>
                </a:solidFill>
                <a:latin typeface="Calibri"/>
              </a:rPr>
              <a:t>69d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Guajirú 1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502920" y="5833872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02920" y="5853988"/>
            <a:ext cx="41148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12648" y="5847588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10460 </a:t>
            </a:r>
            <a:r>
              <a:rPr sz="850" b="1">
                <a:solidFill>
                  <a:srgbClr val="B9770E"/>
                </a:solidFill>
                <a:latin typeface="Calibri"/>
              </a:rPr>
              <a:t>55d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Embu Guaçu 1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6199632" y="5698540"/>
            <a:ext cx="5440680" cy="219456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27648" y="572140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Marcelo Martineli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131552" y="572140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3 OS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199632" y="596371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199632" y="5983833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309360" y="597743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8796 </a:t>
            </a:r>
            <a:r>
              <a:rPr sz="850" b="1">
                <a:solidFill>
                  <a:srgbClr val="B3261E"/>
                </a:solidFill>
                <a:latin typeface="Calibri"/>
              </a:rPr>
              <a:t>86d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Cedro 1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8961120" y="5963716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8961120" y="5983833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9070848" y="5977432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8799 </a:t>
            </a:r>
            <a:r>
              <a:rPr sz="850" b="1">
                <a:solidFill>
                  <a:srgbClr val="B3261E"/>
                </a:solidFill>
                <a:latin typeface="Calibri"/>
              </a:rPr>
              <a:t>82d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Cedro 2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6199632" y="6144768"/>
            <a:ext cx="2679192" cy="16002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6199632" y="6164884"/>
            <a:ext cx="41148" cy="11887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309360" y="6158484"/>
            <a:ext cx="2514600" cy="141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8783 </a:t>
            </a:r>
            <a:r>
              <a:rPr sz="850" b="1">
                <a:solidFill>
                  <a:srgbClr val="B3261E"/>
                </a:solidFill>
                <a:latin typeface="Calibri"/>
              </a:rPr>
              <a:t>69d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Demerval Lobão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SEMANA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Nossos desafios: o combinado da segunda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40 - 28/09 a 02/10 -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018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37160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Fechar a MPM de setembro até quarta 30/09: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422 tarefas em 2 dias úteis; foco em RenoGrid (12%), Alves Lima (25%) e nas 22 usinas pendentes da Thopen; o que não fechar, justificar e registrar hoje.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34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084832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Emitir a MPM de outubro na quinta 01/10: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gerar os planos no Fracttal para todas as usinas ativas e conferir as recém-mobilizadas antes de gerar.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980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6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798064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Entender a alta de corretivas da Thopen: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de 58 para 83 abertas e de 8 para 19 com +30 dias em uma semana; Barretos 1 e Céu Azul 1 lideram; separar entrada nova real de reclassificação na programação de hoje.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11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79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11296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Zerar as MPA vencidas mais antigas: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Petrolina 2 (Axis, 111d, Vitor Valadares): encerrar o ciclo dos ensaios; Mandaguaçu 1 (88d, Pedro Candido), Cedro 1/2 (86d, Marcelo Martineli) e as 5 da RenoGrid (Muito Crítico, Fred Alexandrino).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24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93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24528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Decidir as 7 MPS vencidas da Thopen: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a mais antiga é a SPDA de Araçoiaba da Serra 1 (88d, Danuth Fernandes): faz, reprograma ou cancela.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37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0634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3776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Destravar os handovers mais antigos: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Coração 1 e 2 (72d), Colorado 1 (52d), Diamantino 1 (48d) e Guatambú 1 (46d, 56 tarefas); plano por usina no slide 9.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50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195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650992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Fechamento na sexta: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na sexta (02/10) revisamos estes pontos com os dados novos da API: o que fechou, o que ficou.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